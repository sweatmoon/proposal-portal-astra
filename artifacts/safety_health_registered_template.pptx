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3"/>
  </p:handoutMasterIdLst>
  <p:sldIdLst>
    <p:sldId id="292" r:id="rId2"/>
  </p:sldIdLst>
  <p:sldSz cx="9906000" cy="6858000" type="A4"/>
  <p:notesSz cx="9144000" cy="6858000"/>
  <p:defaultTextStyle>
    <a:defPPr>
      <a:defRPr lang="en-US"/>
    </a:defPPr>
    <a:lvl1pPr marL="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3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7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66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1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1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88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404040"/>
    <a:srgbClr val="D2D2D2"/>
    <a:srgbClr val="828282"/>
    <a:srgbClr val="AAAAAA"/>
    <a:srgbClr val="D9D9D9"/>
    <a:srgbClr val="E2E6EA"/>
    <a:srgbClr val="B0F7FE"/>
    <a:srgbClr val="001E7E"/>
    <a:srgbClr val="165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343" autoAdjust="0"/>
  </p:normalViewPr>
  <p:slideViewPr>
    <p:cSldViewPr snapToGrid="0" showGuides="1">
      <p:cViewPr varScale="1">
        <p:scale>
          <a:sx n="155" d="100"/>
          <a:sy n="155" d="100"/>
        </p:scale>
        <p:origin x="1380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13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65EDAC5-12DD-4086-8440-6AB47247C8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CD6CD1-F588-4783-8A90-F81E01624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315A6-5B64-46A6-A706-6C3B14B8946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41CFD0-110E-47D1-AD36-97A7954C8A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8B5879-F878-4A00-AAC5-FAE349B387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C7649-53EC-43D1-B4A6-E9EE41E7E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72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7D6B1-0E90-8C86-3653-441E2B9F9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A1E908-BF1C-B9BC-8B29-CF4BBFEE3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874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감리 품질보증 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8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17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ctr" defTabSz="1532520" rtl="0" eaLnBrk="1" latinLnBrk="1" hangingPunct="1">
        <a:spcBef>
          <a:spcPct val="0"/>
        </a:spcBef>
        <a:buNone/>
        <a:defRPr sz="73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4693" indent="-574693" algn="l" defTabSz="1532520" rtl="0" eaLnBrk="1" latinLnBrk="1" hangingPunct="1">
        <a:spcBef>
          <a:spcPct val="20000"/>
        </a:spcBef>
        <a:buFont typeface="Arial" pitchFamily="34" charset="0"/>
        <a:buChar char="•"/>
        <a:defRPr sz="5441" kern="1200">
          <a:solidFill>
            <a:schemeClr val="tx1"/>
          </a:solidFill>
          <a:latin typeface="+mn-lt"/>
          <a:ea typeface="+mn-ea"/>
          <a:cs typeface="+mn-cs"/>
        </a:defRPr>
      </a:lvl1pPr>
      <a:lvl2pPr marL="1245174" indent="-478915" algn="l" defTabSz="1532520" rtl="0" eaLnBrk="1" latinLnBrk="1" hangingPunct="1">
        <a:spcBef>
          <a:spcPct val="20000"/>
        </a:spcBef>
        <a:buFont typeface="Arial" pitchFamily="34" charset="0"/>
        <a:buChar char="–"/>
        <a:defRPr sz="4640" kern="1200">
          <a:solidFill>
            <a:schemeClr val="tx1"/>
          </a:solidFill>
          <a:latin typeface="+mn-lt"/>
          <a:ea typeface="+mn-ea"/>
          <a:cs typeface="+mn-cs"/>
        </a:defRPr>
      </a:lvl2pPr>
      <a:lvl3pPr marL="1915651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681912" indent="-383131" algn="l" defTabSz="1532520" rtl="0" eaLnBrk="1" latinLnBrk="1" hangingPunct="1">
        <a:spcBef>
          <a:spcPct val="20000"/>
        </a:spcBef>
        <a:buFont typeface="Arial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448171" indent="-383131" algn="l" defTabSz="1532520" rtl="0" eaLnBrk="1" latinLnBrk="1" hangingPunct="1">
        <a:spcBef>
          <a:spcPct val="20000"/>
        </a:spcBef>
        <a:buFont typeface="Arial" pitchFamily="34" charset="0"/>
        <a:buChar char="»"/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214430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498069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5746952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651321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1pPr>
      <a:lvl2pPr marL="7662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2pPr>
      <a:lvl3pPr marL="153252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3pPr>
      <a:lvl4pPr marL="229878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4pPr>
      <a:lvl5pPr marL="306504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5pPr>
      <a:lvl6pPr marL="383130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6pPr>
      <a:lvl7pPr marL="45975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7pPr>
      <a:lvl8pPr marL="5363822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8pPr>
      <a:lvl9pPr marL="613008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88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pos="5910" userDrawn="1">
          <p15:clr>
            <a:srgbClr val="F26B43"/>
          </p15:clr>
        </p15:guide>
        <p15:guide id="7" pos="330" userDrawn="1">
          <p15:clr>
            <a:srgbClr val="F26B43"/>
          </p15:clr>
        </p15:guide>
        <p15:guide id="8" orient="horz" pos="436" userDrawn="1">
          <p15:clr>
            <a:srgbClr val="F26B43"/>
          </p15:clr>
        </p15:guide>
        <p15:guide id="9" pos="3120" userDrawn="1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4" orient="horz" pos="1003" userDrawn="1">
          <p15:clr>
            <a:srgbClr val="F26B43"/>
          </p15:clr>
        </p15:guide>
        <p15:guide id="17" orient="horz" pos="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TextBox 1268">
            <a:extLst>
              <a:ext uri="{FF2B5EF4-FFF2-40B4-BE49-F238E27FC236}">
                <a16:creationId xmlns:a16="http://schemas.microsoft.com/office/drawing/2014/main" id="{4057D731-D28B-D69B-FEFE-20F412BADE6E}"/>
              </a:ext>
            </a:extLst>
          </p:cNvPr>
          <p:cNvSpPr txBox="1"/>
          <p:nvPr/>
        </p:nvSpPr>
        <p:spPr>
          <a:xfrm>
            <a:off x="745617" y="692150"/>
            <a:ext cx="8420608" cy="433451"/>
          </a:xfrm>
          <a:prstGeom prst="rect">
            <a:avLst/>
          </a:prstGeom>
        </p:spPr>
        <p:txBody>
          <a:bodyPr lIns="171450" tIns="0" rIns="0" bIns="0" rtlCol="0" anchor="ctr"/>
          <a:lstStyle>
            <a:defPPr>
              <a:defRPr lang="en-US"/>
            </a:defPPr>
            <a:lvl1pPr>
              <a:defRPr sz="2000" spc="-50">
                <a:solidFill>
                  <a:srgbClr val="000000"/>
                </a:solidFill>
                <a:latin typeface="KoPub돋움체 Bold"/>
              </a:defRPr>
            </a:lvl1pPr>
          </a:lstStyle>
          <a:p>
            <a:r>
              <a:rPr lang="en-US" altLang="ko-KR" b="1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b="1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제목</a:t>
            </a:r>
            <a:r>
              <a:rPr lang="en-US" altLang="ko-KR" b="1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endParaRPr lang="en-US" b="1" dirty="0">
              <a:ln w="12700" cap="flat" cmpd="sng" algn="ctr">
                <a:solidFill>
                  <a:srgbClr val="FF0000">
                    <a:alpha val="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" name="사각형: 둥근 한쪽 모서리 54">
            <a:extLst>
              <a:ext uri="{FF2B5EF4-FFF2-40B4-BE49-F238E27FC236}">
                <a16:creationId xmlns:a16="http://schemas.microsoft.com/office/drawing/2014/main" id="{77964E10-0CEE-9318-FA03-B98D4868264B}"/>
              </a:ext>
            </a:extLst>
          </p:cNvPr>
          <p:cNvSpPr/>
          <p:nvPr/>
        </p:nvSpPr>
        <p:spPr>
          <a:xfrm flipV="1">
            <a:off x="1" y="1148556"/>
            <a:ext cx="9906000" cy="458787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/>
            <a:endParaRPr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C2442AE-E291-6531-7E41-4FED2792A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216" y="1797703"/>
            <a:ext cx="2858668" cy="24622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ko-KR" altLang="en-US" sz="1600" kern="0" spc="-26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안전 및 보건 관리 등 비상 대책 수립</a:t>
            </a:r>
          </a:p>
        </p:txBody>
      </p:sp>
      <p:sp>
        <p:nvSpPr>
          <p:cNvPr id="7" name="평행 사변형 6">
            <a:extLst>
              <a:ext uri="{FF2B5EF4-FFF2-40B4-BE49-F238E27FC236}">
                <a16:creationId xmlns:a16="http://schemas.microsoft.com/office/drawing/2014/main" id="{8061F772-BC48-E7F6-AF25-A2C8CC35956C}"/>
              </a:ext>
            </a:extLst>
          </p:cNvPr>
          <p:cNvSpPr/>
          <p:nvPr/>
        </p:nvSpPr>
        <p:spPr>
          <a:xfrm flipH="1">
            <a:off x="581492" y="1835944"/>
            <a:ext cx="157907" cy="84665"/>
          </a:xfrm>
          <a:prstGeom prst="parallelogram">
            <a:avLst>
              <a:gd name="adj" fmla="val 106656"/>
            </a:avLst>
          </a:prstGeom>
          <a:pattFill prst="wdDnDiag">
            <a:fgClr>
              <a:srgbClr val="135AAA"/>
            </a:fgClr>
            <a:bgClr>
              <a:srgbClr val="11467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평행 사변형 8">
            <a:extLst>
              <a:ext uri="{FF2B5EF4-FFF2-40B4-BE49-F238E27FC236}">
                <a16:creationId xmlns:a16="http://schemas.microsoft.com/office/drawing/2014/main" id="{A475930A-474A-6029-D80D-14FAF348C0D1}"/>
              </a:ext>
            </a:extLst>
          </p:cNvPr>
          <p:cNvSpPr/>
          <p:nvPr/>
        </p:nvSpPr>
        <p:spPr>
          <a:xfrm flipH="1" flipV="1">
            <a:off x="526950" y="1934635"/>
            <a:ext cx="212449" cy="84665"/>
          </a:xfrm>
          <a:prstGeom prst="parallelogram">
            <a:avLst>
              <a:gd name="adj" fmla="val 99755"/>
            </a:avLst>
          </a:prstGeom>
          <a:pattFill prst="wdUpDiag">
            <a:fgClr>
              <a:srgbClr val="135AAA"/>
            </a:fgClr>
            <a:bgClr>
              <a:srgbClr val="11467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619FBA43-CF59-AA29-4ADC-0683A76D21F5}"/>
              </a:ext>
            </a:extLst>
          </p:cNvPr>
          <p:cNvSpPr/>
          <p:nvPr/>
        </p:nvSpPr>
        <p:spPr>
          <a:xfrm flipH="1">
            <a:off x="525002" y="1835944"/>
            <a:ext cx="126740" cy="84665"/>
          </a:xfrm>
          <a:prstGeom prst="parallelogram">
            <a:avLst>
              <a:gd name="adj" fmla="val 106656"/>
            </a:avLst>
          </a:prstGeom>
          <a:pattFill prst="wdDnDiag">
            <a:fgClr>
              <a:srgbClr val="135AAA"/>
            </a:fgClr>
            <a:bgClr>
              <a:srgbClr val="114679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A7BDA796-D23C-4107-E619-750F68706863}"/>
              </a:ext>
            </a:extLst>
          </p:cNvPr>
          <p:cNvSpPr txBox="1"/>
          <p:nvPr/>
        </p:nvSpPr>
        <p:spPr>
          <a:xfrm>
            <a:off x="1157224" y="1182365"/>
            <a:ext cx="7598664" cy="394335"/>
          </a:xfrm>
          <a:prstGeom prst="rect">
            <a:avLst/>
          </a:prstGeom>
        </p:spPr>
        <p:txBody>
          <a:bodyPr lIns="34290" tIns="0" rIns="34290" bIns="0" rtlCol="0" anchor="ctr"/>
          <a:lstStyle/>
          <a:p>
            <a:pPr>
              <a:lnSpc>
                <a:spcPct val="110000"/>
              </a:lnSpc>
            </a:pPr>
            <a:r>
              <a:rPr lang="ko-KR" altLang="en-US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안전 보건 관리 대책을 수립</a:t>
            </a:r>
            <a:r>
              <a:rPr lang="en-US" altLang="ko-KR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시행 함으로써 </a:t>
            </a:r>
            <a:r>
              <a:rPr lang="ko-KR" altLang="en-US" sz="11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각종 재해를 사전에 예방</a:t>
            </a:r>
            <a:r>
              <a:rPr lang="ko-KR" altLang="en-US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하고</a:t>
            </a:r>
            <a:r>
              <a:rPr lang="en-US" altLang="ko-KR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  <a:r>
              <a:rPr lang="ko-KR" altLang="en-US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1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인적</a:t>
            </a:r>
            <a:r>
              <a:rPr lang="en-US" altLang="ko-KR" sz="11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·</a:t>
            </a:r>
            <a:r>
              <a:rPr lang="ko-KR" altLang="en-US" sz="1100" spc="-6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물적 손실을 방지함은 물론 쾌적한 작업 환경을 조성</a:t>
            </a:r>
            <a:r>
              <a:rPr lang="ko-KR" altLang="en-US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함으로써</a:t>
            </a:r>
          </a:p>
          <a:p>
            <a:pPr>
              <a:lnSpc>
                <a:spcPct val="110000"/>
              </a:lnSpc>
            </a:pPr>
            <a:r>
              <a:rPr lang="ko-KR" altLang="en-US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투입 인력의 안전과 보건을 유지</a:t>
            </a:r>
            <a:r>
              <a:rPr lang="en-US" altLang="ko-KR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증진하겠습니다</a:t>
            </a:r>
            <a:r>
              <a:rPr lang="en-US" altLang="ko-KR" sz="1100" spc="-6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606DD4F-CBDB-C550-6752-D94FCC164EB1}"/>
              </a:ext>
            </a:extLst>
          </p:cNvPr>
          <p:cNvSpPr/>
          <p:nvPr/>
        </p:nvSpPr>
        <p:spPr>
          <a:xfrm flipH="1">
            <a:off x="522960" y="2206389"/>
            <a:ext cx="2911454" cy="428331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/>
          </a:p>
        </p:txBody>
      </p:sp>
      <p:sp>
        <p:nvSpPr>
          <p:cNvPr id="17" name="AutoShape 57">
            <a:extLst>
              <a:ext uri="{FF2B5EF4-FFF2-40B4-BE49-F238E27FC236}">
                <a16:creationId xmlns:a16="http://schemas.microsoft.com/office/drawing/2014/main" id="{DE47BA36-66D8-15FC-AB39-EED91052FF5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23122" y="2170641"/>
            <a:ext cx="2911131" cy="72000"/>
          </a:xfrm>
          <a:prstGeom prst="rect">
            <a:avLst/>
          </a:prstGeom>
          <a:solidFill>
            <a:srgbClr val="113C6E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/>
          </a:p>
        </p:txBody>
      </p:sp>
      <p:sp>
        <p:nvSpPr>
          <p:cNvPr id="19" name="AutoShape 57">
            <a:extLst>
              <a:ext uri="{FF2B5EF4-FFF2-40B4-BE49-F238E27FC236}">
                <a16:creationId xmlns:a16="http://schemas.microsoft.com/office/drawing/2014/main" id="{1C3CC87D-406D-67BB-1FF2-0CBC5E769E2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19563" y="2170641"/>
            <a:ext cx="148256" cy="72000"/>
          </a:xfrm>
          <a:prstGeom prst="rect">
            <a:avLst/>
          </a:prstGeom>
          <a:solidFill>
            <a:srgbClr val="2D84E3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/>
          </a:p>
        </p:txBody>
      </p:sp>
      <p:sp>
        <p:nvSpPr>
          <p:cNvPr id="21" name="AutoShape 57">
            <a:extLst>
              <a:ext uri="{FF2B5EF4-FFF2-40B4-BE49-F238E27FC236}">
                <a16:creationId xmlns:a16="http://schemas.microsoft.com/office/drawing/2014/main" id="{19E40807-4846-1154-9948-665852D66BB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71394" y="2170641"/>
            <a:ext cx="148256" cy="72000"/>
          </a:xfrm>
          <a:prstGeom prst="rect">
            <a:avLst/>
          </a:prstGeom>
          <a:solidFill>
            <a:srgbClr val="28B0F4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/>
          </a:p>
        </p:txBody>
      </p:sp>
      <p:sp>
        <p:nvSpPr>
          <p:cNvPr id="23" name="AutoShape 57">
            <a:extLst>
              <a:ext uri="{FF2B5EF4-FFF2-40B4-BE49-F238E27FC236}">
                <a16:creationId xmlns:a16="http://schemas.microsoft.com/office/drawing/2014/main" id="{AE9AA550-CE06-1B74-ED26-DB9DF25B2FF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23122" y="2170641"/>
            <a:ext cx="148256" cy="72000"/>
          </a:xfrm>
          <a:prstGeom prst="rect">
            <a:avLst/>
          </a:prstGeom>
          <a:solidFill>
            <a:srgbClr val="7FE8FE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/>
          </a:p>
        </p:txBody>
      </p:sp>
      <p:sp>
        <p:nvSpPr>
          <p:cNvPr id="25" name="모서리가 둥근 직사각형 434">
            <a:extLst>
              <a:ext uri="{FF2B5EF4-FFF2-40B4-BE49-F238E27FC236}">
                <a16:creationId xmlns:a16="http://schemas.microsoft.com/office/drawing/2014/main" id="{4C1140E9-8744-E64B-D646-B91BDB549347}"/>
              </a:ext>
            </a:extLst>
          </p:cNvPr>
          <p:cNvSpPr/>
          <p:nvPr/>
        </p:nvSpPr>
        <p:spPr bwMode="auto">
          <a:xfrm>
            <a:off x="617153" y="2301195"/>
            <a:ext cx="2723068" cy="289606"/>
          </a:xfrm>
          <a:prstGeom prst="roundRect">
            <a:avLst>
              <a:gd name="adj" fmla="val 12348"/>
            </a:avLst>
          </a:prstGeom>
          <a:solidFill>
            <a:srgbClr val="AAE6FF"/>
          </a:solidFill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/>
            <a:r>
              <a:rPr kumimoji="1" lang="ko-KR" altLang="en-US" sz="1600" spc="-91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안전 및 보건 관리 개요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A07449-2637-4079-BE25-9B961C6F8D35}"/>
              </a:ext>
            </a:extLst>
          </p:cNvPr>
          <p:cNvSpPr txBox="1"/>
          <p:nvPr/>
        </p:nvSpPr>
        <p:spPr>
          <a:xfrm>
            <a:off x="695061" y="2948750"/>
            <a:ext cx="2567252" cy="4744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125413" lvl="0" indent="-125413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100" spc="-80">
                <a:ln>
                  <a:solidFill>
                    <a:srgbClr val="DFF3F7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85725" indent="-85725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</a:pPr>
            <a:r>
              <a:rPr lang="ko-KR" altLang="en-US" sz="1000" spc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사업의 착수부터 종료까지 지속적으로 수행하며</a:t>
            </a:r>
            <a:r>
              <a:rPr lang="en-US" altLang="ko-KR" sz="1000" spc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000" spc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감리 사업 全 영역에 적용</a:t>
            </a:r>
          </a:p>
          <a:p>
            <a:pPr marL="85725" indent="-85725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</a:pPr>
            <a:r>
              <a:rPr lang="ko-KR" altLang="en-US" sz="1000" spc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착수부터 종료까지 全 기간</a:t>
            </a:r>
          </a:p>
        </p:txBody>
      </p:sp>
      <p:sp>
        <p:nvSpPr>
          <p:cNvPr id="29" name="AutoShape 57">
            <a:extLst>
              <a:ext uri="{FF2B5EF4-FFF2-40B4-BE49-F238E27FC236}">
                <a16:creationId xmlns:a16="http://schemas.microsoft.com/office/drawing/2014/main" id="{6A05762F-A1EC-5FE3-88EC-095DBD63E23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3753" y="2653755"/>
            <a:ext cx="2736000" cy="213110"/>
          </a:xfrm>
          <a:prstGeom prst="roundRect">
            <a:avLst>
              <a:gd name="adj" fmla="val 17223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144000" tIns="0" rIns="36000" bIns="0" rtlCol="0" anchor="ctr"/>
          <a:lstStyle/>
          <a:p>
            <a:pPr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 spc="-5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적용 범위 및 기간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4370B9-416A-9AEA-DC39-892704CBF953}"/>
              </a:ext>
            </a:extLst>
          </p:cNvPr>
          <p:cNvSpPr txBox="1"/>
          <p:nvPr/>
        </p:nvSpPr>
        <p:spPr>
          <a:xfrm>
            <a:off x="695061" y="3976961"/>
            <a:ext cx="2567252" cy="9489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125413" lvl="0" indent="-125413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100" spc="-80">
                <a:ln>
                  <a:solidFill>
                    <a:srgbClr val="DFF3F7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85725" indent="-85725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</a:pPr>
            <a:r>
              <a:rPr kumimoji="0" lang="ko-KR" altLang="en-US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‘안전 </a:t>
            </a:r>
            <a:r>
              <a:rPr kumimoji="0" lang="ko-KR" altLang="en-US" sz="1000" b="0" i="0" u="none" strike="noStrike" kern="1200" cap="none" spc="0" normalizeH="0" baseline="0" noProof="0" dirty="0" err="1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보건’을</a:t>
            </a:r>
            <a:r>
              <a:rPr kumimoji="0" lang="ko-KR" altLang="en-US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 핵심가치로 하고 안전 보건의 유해 위험 요인을 제거하여 위험성 최소화</a:t>
            </a:r>
          </a:p>
          <a:p>
            <a:pPr marL="85725" indent="-85725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</a:pPr>
            <a:r>
              <a:rPr kumimoji="0" lang="ko-KR" altLang="en-US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유사시 신속 보고 체계 이용 및 유관 기관의 비상 연락망 활용</a:t>
            </a:r>
          </a:p>
          <a:p>
            <a:pPr marL="85725" indent="-85725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</a:pPr>
            <a:r>
              <a:rPr kumimoji="0" lang="ko-KR" altLang="en-US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안전 보건 방침과 목표 및 성과를 공유하고</a:t>
            </a:r>
            <a:r>
              <a:rPr kumimoji="0" lang="en-US" altLang="ko-KR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구성원 모두가 본 방침에 참여하고 성실히 실천</a:t>
            </a:r>
          </a:p>
        </p:txBody>
      </p:sp>
      <p:sp>
        <p:nvSpPr>
          <p:cNvPr id="33" name="AutoShape 57">
            <a:extLst>
              <a:ext uri="{FF2B5EF4-FFF2-40B4-BE49-F238E27FC236}">
                <a16:creationId xmlns:a16="http://schemas.microsoft.com/office/drawing/2014/main" id="{72239017-21D1-5A6B-D870-F2DE5EDC498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3753" y="3681966"/>
            <a:ext cx="2736000" cy="213110"/>
          </a:xfrm>
          <a:prstGeom prst="roundRect">
            <a:avLst>
              <a:gd name="adj" fmla="val 17223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144000" tIns="0" rIns="36000" bIns="0" rtlCol="0" anchor="ctr"/>
          <a:lstStyle/>
          <a:p>
            <a:pPr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 spc="-5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안전 보건 방침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083162-25DA-8874-F554-1C83B9E1D811}"/>
              </a:ext>
            </a:extLst>
          </p:cNvPr>
          <p:cNvSpPr txBox="1"/>
          <p:nvPr/>
        </p:nvSpPr>
        <p:spPr>
          <a:xfrm>
            <a:off x="695061" y="5449491"/>
            <a:ext cx="2567252" cy="7950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125413" lvl="0" indent="-125413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100" spc="-80">
                <a:ln>
                  <a:solidFill>
                    <a:srgbClr val="DFF3F7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85725" indent="-85725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</a:pPr>
            <a:r>
              <a:rPr kumimoji="0" lang="ko-KR" altLang="en-US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매월 </a:t>
            </a:r>
            <a:r>
              <a:rPr kumimoji="0" lang="en-US" altLang="ko-KR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일 ‘안전 점검의 날’ 정례화</a:t>
            </a:r>
          </a:p>
          <a:p>
            <a:pPr marL="85725" indent="-85725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</a:pPr>
            <a:r>
              <a:rPr kumimoji="0" lang="ko-KR" altLang="en-US" sz="1000" b="0" i="0" u="none" strike="noStrike" kern="1200" cap="none" spc="0" normalizeH="0" baseline="0" noProof="0" dirty="0" err="1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퇴실시</a:t>
            </a:r>
            <a:r>
              <a:rPr kumimoji="0" lang="en-US" altLang="ko-KR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최종 </a:t>
            </a:r>
            <a:r>
              <a:rPr kumimoji="0" lang="ko-KR" altLang="en-US" sz="1000" b="0" i="0" u="none" strike="noStrike" kern="1200" cap="none" spc="0" normalizeH="0" baseline="0" noProof="0" dirty="0" err="1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퇴실자</a:t>
            </a:r>
            <a:r>
              <a:rPr kumimoji="0" lang="en-US" altLang="ko-KR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) </a:t>
            </a:r>
            <a:r>
              <a:rPr kumimoji="0" lang="ko-KR" altLang="en-US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안전 </a:t>
            </a:r>
            <a:r>
              <a:rPr kumimoji="0" lang="ko-KR" altLang="en-US" sz="1000" b="0" i="0" u="none" strike="noStrike" kern="1200" cap="none" spc="0" normalizeH="0" baseline="0" noProof="0" dirty="0" err="1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점검표</a:t>
            </a:r>
            <a:r>
              <a:rPr kumimoji="0" lang="ko-KR" altLang="en-US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 비치 및 확인을 통한 일일 점검 실시</a:t>
            </a:r>
          </a:p>
          <a:p>
            <a:pPr marL="85725" indent="-85725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</a:pPr>
            <a:r>
              <a:rPr kumimoji="0" lang="ko-KR" altLang="en-US" sz="1000" b="0" i="0" u="none" strike="noStrike" kern="1200" cap="none" spc="0" normalizeH="0" baseline="0" noProof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수행 </a:t>
            </a:r>
            <a:r>
              <a:rPr kumimoji="0" lang="ko-KR" altLang="en-US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인력이 참여하는 안전 </a:t>
            </a:r>
            <a:r>
              <a:rPr kumimoji="0" lang="ko-KR" altLang="en-US" sz="1000" b="0" i="0" u="none" strike="noStrike" kern="1200" cap="none" spc="0" normalizeH="0" baseline="0" noProof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문화 조성으로 안전 </a:t>
            </a:r>
            <a:r>
              <a:rPr kumimoji="0" lang="ko-KR" altLang="en-US" sz="1000" b="0" i="0" u="none" strike="noStrike" kern="1200" cap="none" spc="0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예방 실행력 강화</a:t>
            </a:r>
          </a:p>
        </p:txBody>
      </p:sp>
      <p:sp>
        <p:nvSpPr>
          <p:cNvPr id="37" name="AutoShape 57">
            <a:extLst>
              <a:ext uri="{FF2B5EF4-FFF2-40B4-BE49-F238E27FC236}">
                <a16:creationId xmlns:a16="http://schemas.microsoft.com/office/drawing/2014/main" id="{5109821D-46CF-1FEB-F2B4-FD01097A7FD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3753" y="5154496"/>
            <a:ext cx="2736000" cy="213110"/>
          </a:xfrm>
          <a:prstGeom prst="roundRect">
            <a:avLst>
              <a:gd name="adj" fmla="val 17223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144000" tIns="0" rIns="36000" bIns="0" rtlCol="0" anchor="ctr"/>
          <a:lstStyle/>
          <a:p>
            <a:pPr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 spc="-5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안전 점검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686A246-B1E8-FCD9-0836-ABEFB74F3C33}"/>
              </a:ext>
            </a:extLst>
          </p:cNvPr>
          <p:cNvSpPr/>
          <p:nvPr/>
        </p:nvSpPr>
        <p:spPr>
          <a:xfrm flipH="1">
            <a:off x="3658046" y="2206389"/>
            <a:ext cx="5724832" cy="428331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/>
          </a:p>
        </p:txBody>
      </p:sp>
      <p:sp>
        <p:nvSpPr>
          <p:cNvPr id="41" name="AutoShape 57">
            <a:extLst>
              <a:ext uri="{FF2B5EF4-FFF2-40B4-BE49-F238E27FC236}">
                <a16:creationId xmlns:a16="http://schemas.microsoft.com/office/drawing/2014/main" id="{13EA382F-D740-9E9C-7B98-07D966D68C9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658207" y="2170641"/>
            <a:ext cx="5724197" cy="72000"/>
          </a:xfrm>
          <a:prstGeom prst="rect">
            <a:avLst/>
          </a:prstGeom>
          <a:solidFill>
            <a:srgbClr val="113C6E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/>
          </a:p>
        </p:txBody>
      </p:sp>
      <p:sp>
        <p:nvSpPr>
          <p:cNvPr id="43" name="AutoShape 57">
            <a:extLst>
              <a:ext uri="{FF2B5EF4-FFF2-40B4-BE49-F238E27FC236}">
                <a16:creationId xmlns:a16="http://schemas.microsoft.com/office/drawing/2014/main" id="{C6D00FD0-E972-7E90-FC7C-8FBD274F197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954649" y="2170641"/>
            <a:ext cx="148256" cy="72000"/>
          </a:xfrm>
          <a:prstGeom prst="rect">
            <a:avLst/>
          </a:prstGeom>
          <a:solidFill>
            <a:srgbClr val="2D84E3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/>
          </a:p>
        </p:txBody>
      </p:sp>
      <p:sp>
        <p:nvSpPr>
          <p:cNvPr id="45" name="AutoShape 57">
            <a:extLst>
              <a:ext uri="{FF2B5EF4-FFF2-40B4-BE49-F238E27FC236}">
                <a16:creationId xmlns:a16="http://schemas.microsoft.com/office/drawing/2014/main" id="{A0D7270B-8A84-73BC-07F0-CC0CB7DD030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806480" y="2170641"/>
            <a:ext cx="148256" cy="72000"/>
          </a:xfrm>
          <a:prstGeom prst="rect">
            <a:avLst/>
          </a:prstGeom>
          <a:solidFill>
            <a:srgbClr val="28B0F4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/>
          </a:p>
        </p:txBody>
      </p:sp>
      <p:sp>
        <p:nvSpPr>
          <p:cNvPr id="47" name="AutoShape 57">
            <a:extLst>
              <a:ext uri="{FF2B5EF4-FFF2-40B4-BE49-F238E27FC236}">
                <a16:creationId xmlns:a16="http://schemas.microsoft.com/office/drawing/2014/main" id="{D77A2431-13BA-C511-9632-CEC4C21C2B0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658208" y="2170641"/>
            <a:ext cx="148256" cy="72000"/>
          </a:xfrm>
          <a:prstGeom prst="rect">
            <a:avLst/>
          </a:prstGeom>
          <a:solidFill>
            <a:srgbClr val="7FE8FE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ctr"/>
            <a:endParaRPr/>
          </a:p>
        </p:txBody>
      </p:sp>
      <p:sp>
        <p:nvSpPr>
          <p:cNvPr id="49" name="모서리가 둥근 직사각형 434">
            <a:extLst>
              <a:ext uri="{FF2B5EF4-FFF2-40B4-BE49-F238E27FC236}">
                <a16:creationId xmlns:a16="http://schemas.microsoft.com/office/drawing/2014/main" id="{60DE6E94-F842-6C9B-EE31-0D3255332CB3}"/>
              </a:ext>
            </a:extLst>
          </p:cNvPr>
          <p:cNvSpPr/>
          <p:nvPr/>
        </p:nvSpPr>
        <p:spPr bwMode="auto">
          <a:xfrm>
            <a:off x="3724531" y="2255015"/>
            <a:ext cx="2999542" cy="289606"/>
          </a:xfrm>
          <a:prstGeom prst="roundRect">
            <a:avLst>
              <a:gd name="adj" fmla="val 12348"/>
            </a:avLst>
          </a:prstGeom>
          <a:solidFill>
            <a:srgbClr val="AAE6FF"/>
          </a:solidFill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/>
            <a:r>
              <a:rPr kumimoji="1" lang="ko-KR" altLang="en-US" sz="1400" spc="-91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사업장 구축 시 안전 및 보건 관리 방안 요약</a:t>
            </a: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4F3B8E04-8E5F-D1E3-2CC6-0992E7ED2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35627"/>
              </p:ext>
            </p:extLst>
          </p:nvPr>
        </p:nvGraphicFramePr>
        <p:xfrm>
          <a:off x="3732334" y="2593583"/>
          <a:ext cx="5556512" cy="1772582"/>
        </p:xfrm>
        <a:graphic>
          <a:graphicData uri="http://schemas.openxmlformats.org/drawingml/2006/table">
            <a:tbl>
              <a:tblPr/>
              <a:tblGrid>
                <a:gridCol w="1389128">
                  <a:extLst>
                    <a:ext uri="{9D8B030D-6E8A-4147-A177-3AD203B41FA5}">
                      <a16:colId xmlns:a16="http://schemas.microsoft.com/office/drawing/2014/main" val="3282026070"/>
                    </a:ext>
                  </a:extLst>
                </a:gridCol>
                <a:gridCol w="1389128">
                  <a:extLst>
                    <a:ext uri="{9D8B030D-6E8A-4147-A177-3AD203B41FA5}">
                      <a16:colId xmlns:a16="http://schemas.microsoft.com/office/drawing/2014/main" val="4029569523"/>
                    </a:ext>
                  </a:extLst>
                </a:gridCol>
                <a:gridCol w="1389128">
                  <a:extLst>
                    <a:ext uri="{9D8B030D-6E8A-4147-A177-3AD203B41FA5}">
                      <a16:colId xmlns:a16="http://schemas.microsoft.com/office/drawing/2014/main" val="2819510482"/>
                    </a:ext>
                  </a:extLst>
                </a:gridCol>
                <a:gridCol w="1389128">
                  <a:extLst>
                    <a:ext uri="{9D8B030D-6E8A-4147-A177-3AD203B41FA5}">
                      <a16:colId xmlns:a16="http://schemas.microsoft.com/office/drawing/2014/main" val="3583905507"/>
                    </a:ext>
                  </a:extLst>
                </a:gridCol>
              </a:tblGrid>
              <a:tr h="2323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3600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안전 보건 총괄 책임자</a:t>
                      </a:r>
                    </a:p>
                  </a:txBody>
                  <a:tcPr marL="0" marR="0" marT="0" marB="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안전 보건 관리 담당자</a:t>
                      </a:r>
                    </a:p>
                  </a:txBody>
                  <a:tcPr marL="0" marR="0" marT="0" marB="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관리 담당자</a:t>
                      </a:r>
                    </a:p>
                  </a:txBody>
                  <a:tcPr marL="0" marR="0" marT="0" marB="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127288"/>
                  </a:ext>
                </a:extLst>
              </a:tr>
              <a:tr h="2323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64770" marR="64770" marT="0" marB="3600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1]</a:t>
                      </a:r>
                    </a:p>
                  </a:txBody>
                  <a:tcPr marL="64770" marR="64770" marT="0" marB="3600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2]</a:t>
                      </a:r>
                    </a:p>
                  </a:txBody>
                  <a:tcPr marL="64770" marR="64770" marT="0" marB="3600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3]</a:t>
                      </a:r>
                    </a:p>
                  </a:txBody>
                  <a:tcPr marL="64770" marR="64770" marT="0" marB="3600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755046"/>
                  </a:ext>
                </a:extLst>
              </a:tr>
              <a:tr h="2323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안전 업무 경력</a:t>
                      </a:r>
                    </a:p>
                  </a:txBody>
                  <a:tcPr marL="64770" marR="64770" marT="0" marB="3600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marL="64770" marR="64770" marT="0" marB="3600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marL="64770" marR="64770" marT="0" marB="3600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marL="64770" marR="64770" marT="0" marB="3600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98346"/>
                  </a:ext>
                </a:extLst>
              </a:tr>
              <a:tr h="23230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안전 관련 자격</a:t>
                      </a:r>
                    </a:p>
                  </a:txBody>
                  <a:tcPr marL="64770" marR="64770" marT="0" marB="3600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64770" marR="64770" marT="0" marB="3600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64770" marR="64770" marT="0" marB="3600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64770" marR="64770" marT="0" marB="3600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900908"/>
                  </a:ext>
                </a:extLst>
              </a:tr>
              <a:tr h="6952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임무와 역할</a:t>
                      </a:r>
                    </a:p>
                  </a:txBody>
                  <a:tcPr marL="64770" marR="64770" marT="0" marB="3600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안전 보건 관리 계획의 검토 및 승인</a:t>
                      </a:r>
                      <a:endParaRPr lang="ko-KR" altLang="en-US" sz="8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92075" marR="0" lvl="0" indent="-92075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800" kern="0" spc="-8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안전 보건 관리 이행 상황 모니터링</a:t>
                      </a:r>
                      <a:endParaRPr lang="ko-KR" altLang="en-US" sz="8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0" marB="3600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53252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안전 보건 관리 관련법</a:t>
                      </a:r>
                      <a:r>
                        <a:rPr lang="en-US" altLang="ko-KR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지침 및 관련 매뉴얼을 준수한 사업장 안전 보건 관리 계획 수립</a:t>
                      </a:r>
                    </a:p>
                    <a:p>
                      <a:pPr marL="92075" marR="0" lvl="0" indent="-92075" algn="l" defTabSz="153252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  <a:tabLst>
                          <a:tab pos="254000" algn="l"/>
                          <a:tab pos="508000" algn="l"/>
                          <a:tab pos="762000" algn="l"/>
                          <a:tab pos="1016000" algn="l"/>
                          <a:tab pos="1270000" algn="l"/>
                          <a:tab pos="1524000" algn="l"/>
                          <a:tab pos="1778000" algn="l"/>
                          <a:tab pos="2032000" algn="l"/>
                          <a:tab pos="2286000" algn="l"/>
                          <a:tab pos="2540000" algn="l"/>
                          <a:tab pos="2794000" algn="l"/>
                          <a:tab pos="3048000" algn="l"/>
                          <a:tab pos="3302000" algn="l"/>
                          <a:tab pos="3556000" algn="l"/>
                          <a:tab pos="3810000" algn="l"/>
                          <a:tab pos="4064000" algn="l"/>
                          <a:tab pos="4318000" algn="l"/>
                          <a:tab pos="4572000" algn="l"/>
                          <a:tab pos="4826000" algn="l"/>
                          <a:tab pos="5080000" algn="l"/>
                        </a:tabLst>
                      </a:pPr>
                      <a:r>
                        <a:rPr lang="ko-KR" altLang="en-US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안전 보건 관리에 대한 지휘 감독 및 점검</a:t>
                      </a:r>
                    </a:p>
                  </a:txBody>
                  <a:tcPr marL="64770" marR="64770" marT="0" marB="3600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53252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주기적 안전 보건 교육</a:t>
                      </a:r>
                      <a:r>
                        <a:rPr lang="en-US" altLang="ko-KR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캠페인 실시</a:t>
                      </a:r>
                    </a:p>
                    <a:p>
                      <a:pPr marL="92075" marR="0" lvl="0" indent="-92075" algn="l" defTabSz="153252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안전 보건 위반 사항 등 점검 및 조치</a:t>
                      </a:r>
                    </a:p>
                    <a:p>
                      <a:pPr marL="92075" marR="0" lvl="0" indent="-92075" algn="l" defTabSz="153252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재해 상황 전파 및 상황 보고</a:t>
                      </a:r>
                    </a:p>
                  </a:txBody>
                  <a:tcPr marL="64770" marR="64770" marT="0" marB="3600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755270"/>
                  </a:ext>
                </a:extLst>
              </a:tr>
            </a:tbl>
          </a:graphicData>
        </a:graphic>
      </p:graphicFrame>
      <p:sp>
        <p:nvSpPr>
          <p:cNvPr id="53" name="모서리가 둥근 직사각형 434">
            <a:extLst>
              <a:ext uri="{FF2B5EF4-FFF2-40B4-BE49-F238E27FC236}">
                <a16:creationId xmlns:a16="http://schemas.microsoft.com/office/drawing/2014/main" id="{807C43E6-A561-6861-F9EF-210E785D73C9}"/>
              </a:ext>
            </a:extLst>
          </p:cNvPr>
          <p:cNvSpPr/>
          <p:nvPr/>
        </p:nvSpPr>
        <p:spPr bwMode="auto">
          <a:xfrm>
            <a:off x="3723025" y="4370557"/>
            <a:ext cx="2999542" cy="289606"/>
          </a:xfrm>
          <a:prstGeom prst="roundRect">
            <a:avLst>
              <a:gd name="adj" fmla="val 12348"/>
            </a:avLst>
          </a:prstGeom>
          <a:solidFill>
            <a:srgbClr val="AAE6FF"/>
          </a:solidFill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/>
            <a:r>
              <a:rPr kumimoji="1" lang="ko-KR" altLang="en-US" sz="1400" spc="-91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안전 관리 매뉴얼 작성 및 교육 계획 요약</a:t>
            </a:r>
          </a:p>
        </p:txBody>
      </p:sp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513625D7-4C82-AE4F-BCEB-09B352804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444096"/>
              </p:ext>
            </p:extLst>
          </p:nvPr>
        </p:nvGraphicFramePr>
        <p:xfrm>
          <a:off x="3727717" y="5627732"/>
          <a:ext cx="5650068" cy="760464"/>
        </p:xfrm>
        <a:graphic>
          <a:graphicData uri="http://schemas.openxmlformats.org/drawingml/2006/table">
            <a:tbl>
              <a:tblPr/>
              <a:tblGrid>
                <a:gridCol w="1389228">
                  <a:extLst>
                    <a:ext uri="{9D8B030D-6E8A-4147-A177-3AD203B41FA5}">
                      <a16:colId xmlns:a16="http://schemas.microsoft.com/office/drawing/2014/main" val="3282026070"/>
                    </a:ext>
                  </a:extLst>
                </a:gridCol>
                <a:gridCol w="4260840">
                  <a:extLst>
                    <a:ext uri="{9D8B030D-6E8A-4147-A177-3AD203B41FA5}">
                      <a16:colId xmlns:a16="http://schemas.microsoft.com/office/drawing/2014/main" val="4029569523"/>
                    </a:ext>
                  </a:extLst>
                </a:gridCol>
              </a:tblGrid>
              <a:tr h="1663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3600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안전보건총괄책임자</a:t>
                      </a:r>
                    </a:p>
                  </a:txBody>
                  <a:tcPr marL="0" marR="0" marT="0" marB="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127288"/>
                  </a:ext>
                </a:extLst>
              </a:tr>
              <a:tr h="1829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정기교육</a:t>
                      </a:r>
                    </a:p>
                  </a:txBody>
                  <a:tcPr marL="64770" marR="64770" marT="0" marB="3600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 수행인력 집체교육 등 실시</a:t>
                      </a:r>
                    </a:p>
                  </a:txBody>
                  <a:tcPr marL="64770" marR="64770" marT="0" marB="3600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755046"/>
                  </a:ext>
                </a:extLst>
              </a:tr>
              <a:tr h="1663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수시교육</a:t>
                      </a:r>
                    </a:p>
                  </a:txBody>
                  <a:tcPr marL="64770" marR="64770" marT="0" marB="3600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안전보건 자료를 게시 및 전자적 방법</a:t>
                      </a: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밴드</a:t>
                      </a: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이메일 등</a:t>
                      </a:r>
                      <a:r>
                        <a:rPr lang="en-US" altLang="ko-KR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으로 공유</a:t>
                      </a:r>
                    </a:p>
                  </a:txBody>
                  <a:tcPr marL="64770" marR="64770" marT="0" marB="3600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98346"/>
                  </a:ext>
                </a:extLst>
              </a:tr>
            </a:tbl>
          </a:graphicData>
        </a:graphic>
      </p:graphicFrame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D62102D5-CDA9-4C4C-02F6-44749B5E6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666265"/>
              </p:ext>
            </p:extLst>
          </p:nvPr>
        </p:nvGraphicFramePr>
        <p:xfrm>
          <a:off x="3732334" y="4700290"/>
          <a:ext cx="5650069" cy="837822"/>
        </p:xfrm>
        <a:graphic>
          <a:graphicData uri="http://schemas.openxmlformats.org/drawingml/2006/table">
            <a:tbl>
              <a:tblPr/>
              <a:tblGrid>
                <a:gridCol w="901863">
                  <a:extLst>
                    <a:ext uri="{9D8B030D-6E8A-4147-A177-3AD203B41FA5}">
                      <a16:colId xmlns:a16="http://schemas.microsoft.com/office/drawing/2014/main" val="2740941533"/>
                    </a:ext>
                  </a:extLst>
                </a:gridCol>
                <a:gridCol w="285591">
                  <a:extLst>
                    <a:ext uri="{9D8B030D-6E8A-4147-A177-3AD203B41FA5}">
                      <a16:colId xmlns:a16="http://schemas.microsoft.com/office/drawing/2014/main" val="3542695350"/>
                    </a:ext>
                  </a:extLst>
                </a:gridCol>
                <a:gridCol w="901863">
                  <a:extLst>
                    <a:ext uri="{9D8B030D-6E8A-4147-A177-3AD203B41FA5}">
                      <a16:colId xmlns:a16="http://schemas.microsoft.com/office/drawing/2014/main" val="1687343020"/>
                    </a:ext>
                  </a:extLst>
                </a:gridCol>
                <a:gridCol w="285591">
                  <a:extLst>
                    <a:ext uri="{9D8B030D-6E8A-4147-A177-3AD203B41FA5}">
                      <a16:colId xmlns:a16="http://schemas.microsoft.com/office/drawing/2014/main" val="1294019890"/>
                    </a:ext>
                  </a:extLst>
                </a:gridCol>
                <a:gridCol w="901863">
                  <a:extLst>
                    <a:ext uri="{9D8B030D-6E8A-4147-A177-3AD203B41FA5}">
                      <a16:colId xmlns:a16="http://schemas.microsoft.com/office/drawing/2014/main" val="880904181"/>
                    </a:ext>
                  </a:extLst>
                </a:gridCol>
                <a:gridCol w="285591">
                  <a:extLst>
                    <a:ext uri="{9D8B030D-6E8A-4147-A177-3AD203B41FA5}">
                      <a16:colId xmlns:a16="http://schemas.microsoft.com/office/drawing/2014/main" val="2604645524"/>
                    </a:ext>
                  </a:extLst>
                </a:gridCol>
                <a:gridCol w="900701">
                  <a:extLst>
                    <a:ext uri="{9D8B030D-6E8A-4147-A177-3AD203B41FA5}">
                      <a16:colId xmlns:a16="http://schemas.microsoft.com/office/drawing/2014/main" val="1254541891"/>
                    </a:ext>
                  </a:extLst>
                </a:gridCol>
                <a:gridCol w="286305">
                  <a:extLst>
                    <a:ext uri="{9D8B030D-6E8A-4147-A177-3AD203B41FA5}">
                      <a16:colId xmlns:a16="http://schemas.microsoft.com/office/drawing/2014/main" val="1600526916"/>
                    </a:ext>
                  </a:extLst>
                </a:gridCol>
                <a:gridCol w="900701">
                  <a:extLst>
                    <a:ext uri="{9D8B030D-6E8A-4147-A177-3AD203B41FA5}">
                      <a16:colId xmlns:a16="http://schemas.microsoft.com/office/drawing/2014/main" val="2472710655"/>
                    </a:ext>
                  </a:extLst>
                </a:gridCol>
              </a:tblGrid>
              <a:tr h="2019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수집</a:t>
                      </a:r>
                      <a:endParaRPr lang="ko-KR" altLang="en-US" sz="1000" b="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</a:t>
                      </a:r>
                      <a:endParaRPr lang="ko-KR" altLang="en-US" sz="100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분석</a:t>
                      </a:r>
                      <a:endParaRPr lang="ko-KR" altLang="en-US" sz="1000" b="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</a:t>
                      </a:r>
                      <a:endParaRPr lang="ko-KR" altLang="en-US" sz="1000" kern="0" spc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초안작성</a:t>
                      </a:r>
                      <a:endParaRPr lang="ko-KR" altLang="en-US" sz="1000" b="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53252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▶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KoPub돋움체 Medium"/>
                        <a:ea typeface="+mn-ea"/>
                        <a:cs typeface="+mn-cs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개선방안도출</a:t>
                      </a:r>
                      <a:endParaRPr lang="ko-KR" altLang="en-US" sz="1000" b="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</a:t>
                      </a:r>
                      <a:endParaRPr lang="ko-KR" altLang="en-US" sz="1000" b="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매뉴얼작성</a:t>
                      </a:r>
                    </a:p>
                  </a:txBody>
                  <a:tcPr marL="64770" marR="64770" marT="17907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4206"/>
                  </a:ext>
                </a:extLst>
              </a:tr>
              <a:tr h="582366">
                <a:tc>
                  <a:txBody>
                    <a:bodyPr/>
                    <a:lstStyle/>
                    <a:p>
                      <a:pPr marL="92075" marR="0" lvl="0" indent="-9207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안전 관리 매뉴얼을 위한 요구사항 수집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marR="0" lvl="0" indent="-92075" algn="l" defTabSz="153252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본 프로젝트 특성 파악을 반영한 분석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marR="0" lvl="0" indent="-92075" algn="l" defTabSz="153252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안전 관리 매뉴얼 초안 작성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marR="0" lvl="0" indent="-92075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외부 전문가 및 동료 검토를 통한 매뉴얼 개선</a:t>
                      </a:r>
                      <a:endParaRPr lang="ko-KR" altLang="en-US" sz="1000" b="0" kern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marR="0" lvl="0" indent="-92075" algn="l" defTabSz="153252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r>
                        <a:rPr lang="ko-KR" altLang="en-US" sz="800" kern="0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안전 관리 매뉴얼 확정 및 교육 실시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6568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제안서 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KoPub돋움체 Bold"/>
        <a:cs typeface=""/>
      </a:majorFont>
      <a:minorFont>
        <a:latin typeface="맑은 고딕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325</Words>
  <Application>Microsoft Office PowerPoint</Application>
  <PresentationFormat>A4 용지(210x297mm)</PresentationFormat>
  <Paragraphs>62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KoPub돋움체 Bold</vt:lpstr>
      <vt:lpstr>KoPub돋움체 Medium</vt:lpstr>
      <vt:lpstr>맑은 고딕</vt:lpstr>
      <vt:lpstr>Arial</vt:lpstr>
      <vt:lpstr>Wingdings</vt:lpstr>
      <vt:lpstr>제안서 마스터</vt:lpstr>
      <vt:lpstr>PowerPoint 프레젠테이션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jhkim</dc:creator>
  <cp:lastModifiedBy>현호 김</cp:lastModifiedBy>
  <cp:revision>102</cp:revision>
  <dcterms:created xsi:type="dcterms:W3CDTF">2021-04-04T03:38:05Z</dcterms:created>
  <dcterms:modified xsi:type="dcterms:W3CDTF">2026-09-18T21:03:20Z</dcterms:modified>
</cp:coreProperties>
</file>