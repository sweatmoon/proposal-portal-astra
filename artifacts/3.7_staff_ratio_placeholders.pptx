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3"/>
  </p:handoutMasterIdLst>
  <p:sldIdLst>
    <p:sldId id="292" r:id="rId2"/>
  </p:sldIdLst>
  <p:sldSz cx="9906000" cy="6858000" type="A4"/>
  <p:notesSz cx="9144000" cy="6858000"/>
  <p:defaultTextStyle>
    <a:defPPr>
      <a:defRPr lang="en-US"/>
    </a:defPPr>
    <a:lvl1pPr marL="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3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7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66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1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1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88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404040"/>
    <a:srgbClr val="D2D2D2"/>
    <a:srgbClr val="828282"/>
    <a:srgbClr val="AAAAAA"/>
    <a:srgbClr val="D9D9D9"/>
    <a:srgbClr val="E2E6EA"/>
    <a:srgbClr val="B0F7FE"/>
    <a:srgbClr val="001E7E"/>
    <a:srgbClr val="165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343" autoAdjust="0"/>
  </p:normalViewPr>
  <p:slideViewPr>
    <p:cSldViewPr snapToGrid="0" showGuides="1">
      <p:cViewPr>
        <p:scale>
          <a:sx n="125" d="100"/>
          <a:sy n="125" d="100"/>
        </p:scale>
        <p:origin x="1338" y="7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13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5EDAC5-12DD-4086-8440-6AB47247C8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CD6CD1-F588-4783-8A90-F81E01624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15A6-5B64-46A6-A706-6C3B14B8946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41CFD0-110E-47D1-AD36-97A7954C8A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8B5879-F878-4A00-AAC5-FAE349B387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C7649-53EC-43D1-B4A6-E9EE41E7E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7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7D6B1-0E90-8C86-3653-441E2B9F9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A1E908-BF1C-B9BC-8B29-CF4BBFEE3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74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감리 품질보증 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17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ctr" defTabSz="1532520" rtl="0" eaLnBrk="1" latinLnBrk="1" hangingPunct="1">
        <a:spcBef>
          <a:spcPct val="0"/>
        </a:spcBef>
        <a:buNone/>
        <a:defRPr sz="73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693" indent="-574693" algn="l" defTabSz="1532520" rtl="0" eaLnBrk="1" latinLnBrk="1" hangingPunct="1">
        <a:spcBef>
          <a:spcPct val="20000"/>
        </a:spcBef>
        <a:buFont typeface="Arial" pitchFamily="34" charset="0"/>
        <a:buChar char="•"/>
        <a:defRPr sz="5441" kern="1200">
          <a:solidFill>
            <a:schemeClr val="tx1"/>
          </a:solidFill>
          <a:latin typeface="+mn-lt"/>
          <a:ea typeface="+mn-ea"/>
          <a:cs typeface="+mn-cs"/>
        </a:defRPr>
      </a:lvl1pPr>
      <a:lvl2pPr marL="1245174" indent="-478915" algn="l" defTabSz="1532520" rtl="0" eaLnBrk="1" latinLnBrk="1" hangingPunct="1">
        <a:spcBef>
          <a:spcPct val="20000"/>
        </a:spcBef>
        <a:buFont typeface="Arial" pitchFamily="34" charset="0"/>
        <a:buChar char="–"/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1915651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81912" indent="-383131" algn="l" defTabSz="153252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48171" indent="-383131" algn="l" defTabSz="1532520" rtl="0" eaLnBrk="1" latinLnBrk="1" hangingPunct="1">
        <a:spcBef>
          <a:spcPct val="20000"/>
        </a:spcBef>
        <a:buFont typeface="Arial" pitchFamily="34" charset="0"/>
        <a:buChar char="»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14430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498069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746952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51321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1pPr>
      <a:lvl2pPr marL="7662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2pPr>
      <a:lvl3pPr marL="153252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3pPr>
      <a:lvl4pPr marL="229878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4pPr>
      <a:lvl5pPr marL="306504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5pPr>
      <a:lvl6pPr marL="383130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6pPr>
      <a:lvl7pPr marL="45975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7pPr>
      <a:lvl8pPr marL="5363822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8pPr>
      <a:lvl9pPr marL="613008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88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pos="5910" userDrawn="1">
          <p15:clr>
            <a:srgbClr val="F26B43"/>
          </p15:clr>
        </p15:guide>
        <p15:guide id="7" pos="330" userDrawn="1">
          <p15:clr>
            <a:srgbClr val="F26B43"/>
          </p15:clr>
        </p15:guide>
        <p15:guide id="8" orient="horz" pos="436" userDrawn="1">
          <p15:clr>
            <a:srgbClr val="F26B43"/>
          </p15:clr>
        </p15:guide>
        <p15:guide id="9" pos="3120" userDrawn="1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4" orient="horz" pos="1003" userDrawn="1">
          <p15:clr>
            <a:srgbClr val="F26B43"/>
          </p15:clr>
        </p15:guide>
        <p15:guide id="17" orient="horz" pos="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TextBox 1268">
            <a:extLst>
              <a:ext uri="{FF2B5EF4-FFF2-40B4-BE49-F238E27FC236}">
                <a16:creationId xmlns:a16="http://schemas.microsoft.com/office/drawing/2014/main" id="{4057D731-D28B-D69B-FEFE-20F412BADE6E}"/>
              </a:ext>
            </a:extLst>
          </p:cNvPr>
          <p:cNvSpPr txBox="1"/>
          <p:nvPr/>
        </p:nvSpPr>
        <p:spPr>
          <a:xfrm>
            <a:off x="745617" y="692150"/>
            <a:ext cx="8420608" cy="433451"/>
          </a:xfrm>
          <a:prstGeom prst="rect">
            <a:avLst/>
          </a:prstGeom>
        </p:spPr>
        <p:txBody>
          <a:bodyPr lIns="171450" tIns="0" rIns="0" bIns="0" rtlCol="0" anchor="ctr"/>
          <a:lstStyle>
            <a:defPPr>
              <a:defRPr lang="en-US"/>
            </a:defPPr>
            <a:lvl1pPr>
              <a:defRPr sz="2000" spc="-50">
                <a:solidFill>
                  <a:srgbClr val="000000"/>
                </a:solidFill>
                <a:latin typeface="KoPub돋움체 Bold"/>
              </a:defRPr>
            </a:lvl1pPr>
          </a:lstStyle>
          <a:p>
            <a:r>
              <a:rPr lang="en-US" altLang="ko-KR" b="1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b="1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제목</a:t>
            </a:r>
            <a:r>
              <a:rPr lang="en-US" altLang="ko-KR" b="1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endParaRPr lang="en-US" b="1" dirty="0">
              <a:ln w="12700" cap="flat" cmpd="sng" algn="ctr">
                <a:solidFill>
                  <a:srgbClr val="FF0000">
                    <a:alpha val="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사각형: 둥근 한쪽 모서리 54">
            <a:extLst>
              <a:ext uri="{FF2B5EF4-FFF2-40B4-BE49-F238E27FC236}">
                <a16:creationId xmlns:a16="http://schemas.microsoft.com/office/drawing/2014/main" id="{476354A2-4470-E966-3042-05A4B0D45CFC}"/>
              </a:ext>
            </a:extLst>
          </p:cNvPr>
          <p:cNvSpPr/>
          <p:nvPr/>
        </p:nvSpPr>
        <p:spPr>
          <a:xfrm flipV="1">
            <a:off x="1" y="1148556"/>
            <a:ext cx="9906000" cy="45878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8F341-51F6-1FEC-9E2E-A20EE50F0345}"/>
              </a:ext>
            </a:extLst>
          </p:cNvPr>
          <p:cNvSpPr txBox="1"/>
          <p:nvPr/>
        </p:nvSpPr>
        <p:spPr>
          <a:xfrm>
            <a:off x="1157224" y="1182365"/>
            <a:ext cx="7598664" cy="394335"/>
          </a:xfrm>
          <a:prstGeom prst="rect">
            <a:avLst/>
          </a:prstGeom>
        </p:spPr>
        <p:txBody>
          <a:bodyPr lIns="34290" tIns="0" rIns="3429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[배치기준검토문구]</a:t>
            </a: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/>
            </a: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/>
            </a:r>
          </a:p>
          <a:p>
            <a:pPr>
              <a:lnSpc>
                <a:spcPct val="110000"/>
              </a:lnSpc>
            </a:pPr>
            <a:r>
              <a:rPr lang="ko-KR" altLang="en-US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 투입 공수 </a:t>
            </a:r>
            <a:r>
              <a:rPr lang="en-US" altLang="ko-KR" sz="12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[C] MD</a:t>
            </a:r>
            <a:r>
              <a:rPr lang="ko-KR" altLang="en-US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에서 감리원은 </a:t>
            </a:r>
            <a:r>
              <a:rPr lang="en-US" altLang="ko-KR" sz="12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[A]MD ([PA]%)</a:t>
            </a:r>
            <a:r>
              <a:rPr lang="ko-KR" altLang="en-US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전문가는 </a:t>
            </a:r>
            <a:r>
              <a:rPr lang="en-US" altLang="ko-KR" sz="12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[B]MD ([PB]%)</a:t>
            </a: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를 투입하였습니다.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2C230D-24FF-7304-D319-20F64C51F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694" y="1700213"/>
            <a:ext cx="3898385" cy="187374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D14AE91-D544-99D2-026B-9B24C5C49B57}"/>
              </a:ext>
            </a:extLst>
          </p:cNvPr>
          <p:cNvSpPr/>
          <p:nvPr/>
        </p:nvSpPr>
        <p:spPr>
          <a:xfrm>
            <a:off x="10010694" y="0"/>
            <a:ext cx="3128051" cy="1148323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작업 방법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감리원 및 전문가 투입 비율 작성</a:t>
            </a:r>
            <a:r>
              <a:rPr lang="ko-KR" altLang="en-US" sz="1200" dirty="0">
                <a:ln>
                  <a:solidFill>
                    <a:schemeClr val="bg1">
                      <a:alpha val="0"/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신설 장표로 아래 형식의 표로 작성 필요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024EA3-D408-AA82-067B-C2DF58205913}"/>
              </a:ext>
            </a:extLst>
          </p:cNvPr>
          <p:cNvSpPr/>
          <p:nvPr/>
        </p:nvSpPr>
        <p:spPr>
          <a:xfrm flipH="1">
            <a:off x="535653" y="2209110"/>
            <a:ext cx="5964048" cy="38173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/>
          </a:p>
        </p:txBody>
      </p:sp>
      <p:graphicFrame>
        <p:nvGraphicFramePr>
          <p:cNvPr id="9" name="Group 93">
            <a:extLst>
              <a:ext uri="{FF2B5EF4-FFF2-40B4-BE49-F238E27FC236}">
                <a16:creationId xmlns:a16="http://schemas.microsoft.com/office/drawing/2014/main" id="{0B836FD7-E0C9-8372-69E9-E41B0A860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019136"/>
              </p:ext>
            </p:extLst>
          </p:nvPr>
        </p:nvGraphicFramePr>
        <p:xfrm>
          <a:off x="655975" y="2399425"/>
          <a:ext cx="5738183" cy="3460242"/>
        </p:xfrm>
        <a:graphic>
          <a:graphicData uri="http://schemas.openxmlformats.org/drawingml/2006/table">
            <a:tbl>
              <a:tblPr bandCol="1"/>
              <a:tblGrid>
                <a:gridCol w="1027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7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7834">
                  <a:extLst>
                    <a:ext uri="{9D8B030D-6E8A-4147-A177-3AD203B41FA5}">
                      <a16:colId xmlns:a16="http://schemas.microsoft.com/office/drawing/2014/main" val="371255725"/>
                    </a:ext>
                  </a:extLst>
                </a:gridCol>
                <a:gridCol w="1626847">
                  <a:extLst>
                    <a:ext uri="{9D8B030D-6E8A-4147-A177-3AD203B41FA5}">
                      <a16:colId xmlns:a16="http://schemas.microsoft.com/office/drawing/2014/main" val="3250513058"/>
                    </a:ext>
                  </a:extLst>
                </a:gridCol>
              </a:tblGrid>
              <a:tr h="57670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감리 단계</a:t>
                      </a:r>
                    </a:p>
                  </a:txBody>
                  <a:tcPr marL="32659" marR="32659" marT="3266" marB="32659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감리원 </a:t>
                      </a:r>
                      <a:r>
                        <a:rPr kumimoji="1" lang="en-US" altLang="ko-KR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(MD)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(A)</a:t>
                      </a:r>
                      <a:endParaRPr kumimoji="1" lang="ko-KR" altLang="en-US" sz="1100" b="1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3266" marB="3265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전문가 </a:t>
                      </a:r>
                      <a:r>
                        <a:rPr kumimoji="1" lang="en-US" altLang="ko-KR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(MD)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(B)</a:t>
                      </a:r>
                      <a:endParaRPr kumimoji="1" lang="ko-KR" altLang="en-US" sz="1100" b="1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3266" marB="3265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전체 투입 공수 </a:t>
                      </a:r>
                      <a:r>
                        <a:rPr kumimoji="1" lang="en-US" altLang="ko-KR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(MD) (C)</a:t>
                      </a:r>
                      <a:endParaRPr kumimoji="1" lang="ko-KR" altLang="en-US" sz="1100" b="1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3266" marB="3265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전문가 비율 </a:t>
                      </a:r>
                      <a:r>
                        <a:rPr kumimoji="1" lang="en-US" altLang="ko-KR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(30% </a:t>
                      </a:r>
                      <a:r>
                        <a:rPr kumimoji="1" lang="ko-KR" altLang="en-US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범위내</a:t>
                      </a:r>
                      <a:r>
                        <a:rPr kumimoji="1" lang="en-US" altLang="ko-KR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 </a:t>
                      </a:r>
                      <a:r>
                        <a:rPr kumimoji="1" lang="ko-KR" altLang="en-US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전문가 </a:t>
                      </a:r>
                      <a:r>
                        <a:rPr kumimoji="1" lang="en-US" altLang="ko-KR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(B) /</a:t>
                      </a:r>
                      <a:br>
                        <a:rPr kumimoji="1" lang="en-US" altLang="ko-KR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전체 투입 공수 </a:t>
                      </a:r>
                      <a:r>
                        <a:rPr kumimoji="1" lang="en-US" altLang="ko-KR" sz="1100" b="1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(C) )</a:t>
                      </a:r>
                      <a:endParaRPr kumimoji="1" lang="ko-KR" altLang="en-US" sz="1100" b="1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3266" marB="32659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70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[단계1]</a:t>
                      </a:r>
                      <a:endParaRPr kumimoji="1" lang="en-US" altLang="ko-KR" sz="11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[A1]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[B1]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[C1]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153252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32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[PB]%</a:t>
                      </a:r>
                    </a:p>
                    <a:p>
                      <a:pPr marL="0" marR="0" lvl="0" indent="0" algn="ctr" defTabSz="153252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( [B]/[C] MD )</a:t>
                      </a:r>
                      <a:endParaRPr kumimoji="1" lang="ko-KR" altLang="en-US" sz="1400" b="1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70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[단계2]</a:t>
                      </a:r>
                      <a:endParaRPr kumimoji="1" lang="en-US" altLang="ko-KR" sz="11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[A2]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[B2]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[C2]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200" b="1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34835"/>
                  </a:ext>
                </a:extLst>
              </a:tr>
              <a:tr h="57670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[단계3]</a:t>
                      </a:r>
                      <a:endParaRPr kumimoji="1" lang="en-US" altLang="ko-KR" sz="11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[A3]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[B3]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[C3]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200" b="1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552294"/>
                  </a:ext>
                </a:extLst>
              </a:tr>
              <a:tr h="57670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[단계4]</a:t>
                      </a:r>
                      <a:endParaRPr kumimoji="1" lang="en-US" altLang="ko-KR" sz="11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[A4]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[B4]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[C4]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53252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200" b="1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80109"/>
                  </a:ext>
                </a:extLst>
              </a:tr>
              <a:tr h="576707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소계</a:t>
                      </a:r>
                      <a:endParaRPr kumimoji="1" lang="en-US" altLang="ko-KR" sz="12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[A]</a:t>
                      </a:r>
                      <a:endParaRPr kumimoji="1" lang="en-US" altLang="ko-KR" sz="14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kern="1200" cap="none" spc="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[B]</a:t>
                      </a:r>
                      <a:endParaRPr kumimoji="1" lang="en-US" altLang="ko-KR" sz="1400" b="0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kern="1200" cap="none" spc="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[C]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53252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1" i="0" u="none" strike="noStrike" kern="1200" cap="none" spc="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035955"/>
                  </a:ext>
                </a:extLst>
              </a:tr>
            </a:tbl>
          </a:graphicData>
        </a:graphic>
      </p:graphicFrame>
      <p:sp>
        <p:nvSpPr>
          <p:cNvPr id="10" name="양쪽 모서리가 둥근 사각형 131">
            <a:extLst>
              <a:ext uri="{FF2B5EF4-FFF2-40B4-BE49-F238E27FC236}">
                <a16:creationId xmlns:a16="http://schemas.microsoft.com/office/drawing/2014/main" id="{F4C1672E-69C4-96B0-0C64-278861818777}"/>
              </a:ext>
            </a:extLst>
          </p:cNvPr>
          <p:cNvSpPr/>
          <p:nvPr/>
        </p:nvSpPr>
        <p:spPr bwMode="auto">
          <a:xfrm flipH="1">
            <a:off x="6757855" y="1960832"/>
            <a:ext cx="2627418" cy="4218295"/>
          </a:xfrm>
          <a:prstGeom prst="round2SameRect">
            <a:avLst>
              <a:gd name="adj1" fmla="val 3636"/>
              <a:gd name="adj2" fmla="val 0"/>
            </a:avLst>
          </a:prstGeom>
          <a:solidFill>
            <a:schemeClr val="bg1"/>
          </a:solidFill>
          <a:ln w="12700">
            <a:solidFill>
              <a:srgbClr val="D2D2D2"/>
            </a:solidFill>
          </a:ln>
          <a:effectLst/>
        </p:spPr>
        <p:txBody>
          <a:bodyPr lIns="432000" tIns="72000" rIns="72000" bIns="36000" rtlCol="0" anchor="t" anchorCtr="0"/>
          <a:lstStyle/>
          <a:p>
            <a:pPr>
              <a:spcBef>
                <a:spcPct val="0"/>
              </a:spcBef>
              <a:spcAft>
                <a:spcPts val="300"/>
              </a:spcAft>
            </a:pPr>
            <a:endParaRPr/>
          </a:p>
        </p:txBody>
      </p:sp>
      <p:sp>
        <p:nvSpPr>
          <p:cNvPr id="12" name="양쪽 모서리가 둥근 사각형 105">
            <a:extLst>
              <a:ext uri="{FF2B5EF4-FFF2-40B4-BE49-F238E27FC236}">
                <a16:creationId xmlns:a16="http://schemas.microsoft.com/office/drawing/2014/main" id="{901464BC-1C90-5C40-4C75-8DA82756EB68}"/>
              </a:ext>
            </a:extLst>
          </p:cNvPr>
          <p:cNvSpPr/>
          <p:nvPr/>
        </p:nvSpPr>
        <p:spPr>
          <a:xfrm>
            <a:off x="6823127" y="3449712"/>
            <a:ext cx="2506478" cy="357114"/>
          </a:xfrm>
          <a:prstGeom prst="round2SameRect">
            <a:avLst>
              <a:gd name="adj1" fmla="val 14672"/>
              <a:gd name="adj2" fmla="val 0"/>
            </a:avLst>
          </a:prstGeom>
          <a:solidFill>
            <a:srgbClr val="AAE6FF"/>
          </a:solidFill>
          <a:ln>
            <a:noFill/>
          </a:ln>
        </p:spPr>
        <p:txBody>
          <a:bodyPr wrap="none" lIns="0" tIns="72000" rIns="0" bIns="36000" anchor="ctr"/>
          <a:lstStyle/>
          <a:p>
            <a:pPr indent="-147287" algn="ctr">
              <a:lnSpc>
                <a:spcPct val="95000"/>
              </a:lnSpc>
            </a:pPr>
            <a:r>
              <a:rPr kumimoji="1" lang="ko-KR" altLang="en-US" sz="1400" spc="-45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3509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 pitchFamily="2" charset="2"/>
              </a:rPr>
              <a:t>감리원 및 전문가 투입비율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9BC94E6-7D31-7795-4942-7271E39A3867}"/>
              </a:ext>
            </a:extLst>
          </p:cNvPr>
          <p:cNvGrpSpPr/>
          <p:nvPr/>
        </p:nvGrpSpPr>
        <p:grpSpPr>
          <a:xfrm>
            <a:off x="525002" y="1797703"/>
            <a:ext cx="3041890" cy="246221"/>
            <a:chOff x="525002" y="1797703"/>
            <a:chExt cx="3041890" cy="246221"/>
          </a:xfrm>
        </p:grpSpPr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DFFCFC10-34D0-CF44-DA49-B9FE5FCEA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216" y="1797703"/>
              <a:ext cx="279467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ko-KR" altLang="en-US" sz="1600" kern="0" spc="-26" dirty="0">
                  <a:ln>
                    <a:solidFill>
                      <a:srgbClr val="1655A2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[배치기준요약]</a:t>
              </a:r>
              <a:r>
                <a:rPr lang="en-US" altLang="ko-KR" sz="1600" kern="0" spc="-26" dirty="0">
                  <a:ln>
                    <a:solidFill>
                      <a:srgbClr val="1655A2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/>
              </a:r>
              <a:r>
                <a:rPr lang="ko-KR" altLang="en-US" sz="1600" kern="0" spc="-26" dirty="0">
                  <a:ln>
                    <a:solidFill>
                      <a:srgbClr val="1655A2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/>
              </a: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4A8D5393-81B8-7008-526B-0F2B3EDDD0BE}"/>
                </a:ext>
              </a:extLst>
            </p:cNvPr>
            <p:cNvGrpSpPr/>
            <p:nvPr/>
          </p:nvGrpSpPr>
          <p:grpSpPr>
            <a:xfrm>
              <a:off x="525002" y="1835944"/>
              <a:ext cx="214397" cy="183356"/>
              <a:chOff x="-95519" y="1966601"/>
              <a:chExt cx="463817" cy="224145"/>
            </a:xfrm>
            <a:solidFill>
              <a:srgbClr val="135AAA"/>
            </a:solidFill>
          </p:grpSpPr>
          <p:sp>
            <p:nvSpPr>
              <p:cNvPr id="16" name="평행 사변형 15">
                <a:extLst>
                  <a:ext uri="{FF2B5EF4-FFF2-40B4-BE49-F238E27FC236}">
                    <a16:creationId xmlns:a16="http://schemas.microsoft.com/office/drawing/2014/main" id="{88BF5EA2-84EC-1F7E-42D0-BD0E018D8BE1}"/>
                  </a:ext>
                </a:extLst>
              </p:cNvPr>
              <p:cNvSpPr/>
              <p:nvPr/>
            </p:nvSpPr>
            <p:spPr>
              <a:xfrm flipH="1">
                <a:off x="26689" y="1966601"/>
                <a:ext cx="341609" cy="103499"/>
              </a:xfrm>
              <a:prstGeom prst="parallelogram">
                <a:avLst>
                  <a:gd name="adj" fmla="val 106656"/>
                </a:avLst>
              </a:prstGeom>
              <a:pattFill prst="wdDnDiag">
                <a:fgClr>
                  <a:srgbClr val="135AAA"/>
                </a:fgClr>
                <a:bgClr>
                  <a:srgbClr val="114679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평행 사변형 16">
                <a:extLst>
                  <a:ext uri="{FF2B5EF4-FFF2-40B4-BE49-F238E27FC236}">
                    <a16:creationId xmlns:a16="http://schemas.microsoft.com/office/drawing/2014/main" id="{800F83EA-1689-E4FC-C94E-F0C8DA21CBE1}"/>
                  </a:ext>
                </a:extLst>
              </p:cNvPr>
              <p:cNvSpPr/>
              <p:nvPr/>
            </p:nvSpPr>
            <p:spPr>
              <a:xfrm flipH="1" flipV="1">
                <a:off x="-91305" y="2087247"/>
                <a:ext cx="459602" cy="103499"/>
              </a:xfrm>
              <a:prstGeom prst="parallelogram">
                <a:avLst>
                  <a:gd name="adj" fmla="val 99755"/>
                </a:avLst>
              </a:prstGeom>
              <a:pattFill prst="wdUpDiag">
                <a:fgClr>
                  <a:srgbClr val="135AAA"/>
                </a:fgClr>
                <a:bgClr>
                  <a:srgbClr val="114679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평행 사변형 17">
                <a:extLst>
                  <a:ext uri="{FF2B5EF4-FFF2-40B4-BE49-F238E27FC236}">
                    <a16:creationId xmlns:a16="http://schemas.microsoft.com/office/drawing/2014/main" id="{3BE24026-E906-E38F-AD86-1F653885B8E9}"/>
                  </a:ext>
                </a:extLst>
              </p:cNvPr>
              <p:cNvSpPr/>
              <p:nvPr/>
            </p:nvSpPr>
            <p:spPr>
              <a:xfrm flipH="1">
                <a:off x="-95519" y="1966601"/>
                <a:ext cx="274184" cy="103499"/>
              </a:xfrm>
              <a:prstGeom prst="parallelogram">
                <a:avLst>
                  <a:gd name="adj" fmla="val 106656"/>
                </a:avLst>
              </a:prstGeom>
              <a:pattFill prst="wdDnDiag">
                <a:fgClr>
                  <a:srgbClr val="135AAA"/>
                </a:fgClr>
                <a:bgClr>
                  <a:srgbClr val="114679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C0B9DA9-597C-AC71-CFB1-F973E52E1566}"/>
              </a:ext>
            </a:extLst>
          </p:cNvPr>
          <p:cNvGrpSpPr/>
          <p:nvPr/>
        </p:nvGrpSpPr>
        <p:grpSpPr>
          <a:xfrm flipH="1">
            <a:off x="535922" y="2173362"/>
            <a:ext cx="5998227" cy="72000"/>
            <a:chOff x="486424" y="2268719"/>
            <a:chExt cx="4752000" cy="72000"/>
          </a:xfrm>
        </p:grpSpPr>
        <p:sp>
          <p:nvSpPr>
            <p:cNvPr id="20" name="AutoShape 57">
              <a:extLst>
                <a:ext uri="{FF2B5EF4-FFF2-40B4-BE49-F238E27FC236}">
                  <a16:creationId xmlns:a16="http://schemas.microsoft.com/office/drawing/2014/main" id="{7F1E70BE-7639-E00C-E50A-DB925B45B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24" y="2268719"/>
              <a:ext cx="4752000" cy="72000"/>
            </a:xfrm>
            <a:prstGeom prst="rect">
              <a:avLst/>
            </a:prstGeom>
            <a:solidFill>
              <a:srgbClr val="113C6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/>
              <a:endParaRPr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E3A6449-6E3C-4B0B-9FCD-8E2BA091C74E}"/>
                </a:ext>
              </a:extLst>
            </p:cNvPr>
            <p:cNvGrpSpPr/>
            <p:nvPr/>
          </p:nvGrpSpPr>
          <p:grpSpPr>
            <a:xfrm>
              <a:off x="4512521" y="2268719"/>
              <a:ext cx="725903" cy="72000"/>
              <a:chOff x="2246877" y="1975631"/>
              <a:chExt cx="725903" cy="35748"/>
            </a:xfrm>
          </p:grpSpPr>
          <p:sp>
            <p:nvSpPr>
              <p:cNvPr id="22" name="AutoShape 57">
                <a:extLst>
                  <a:ext uri="{FF2B5EF4-FFF2-40B4-BE49-F238E27FC236}">
                    <a16:creationId xmlns:a16="http://schemas.microsoft.com/office/drawing/2014/main" id="{45161FC6-FFF4-60DD-E069-313FA5F07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6877" y="1975631"/>
                <a:ext cx="242006" cy="35748"/>
              </a:xfrm>
              <a:prstGeom prst="rect">
                <a:avLst/>
              </a:prstGeom>
              <a:solidFill>
                <a:srgbClr val="2D84E3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/>
                <a:endParaRPr/>
              </a:p>
            </p:txBody>
          </p:sp>
          <p:sp>
            <p:nvSpPr>
              <p:cNvPr id="23" name="AutoShape 57">
                <a:extLst>
                  <a:ext uri="{FF2B5EF4-FFF2-40B4-BE49-F238E27FC236}">
                    <a16:creationId xmlns:a16="http://schemas.microsoft.com/office/drawing/2014/main" id="{C876ACA3-9BB9-5242-E95B-AE3DBAF070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8742" y="1975631"/>
                <a:ext cx="242006" cy="35748"/>
              </a:xfrm>
              <a:prstGeom prst="rect">
                <a:avLst/>
              </a:prstGeom>
              <a:solidFill>
                <a:srgbClr val="28B0F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/>
                <a:endParaRPr/>
              </a:p>
            </p:txBody>
          </p:sp>
          <p:sp>
            <p:nvSpPr>
              <p:cNvPr id="24" name="AutoShape 57">
                <a:extLst>
                  <a:ext uri="{FF2B5EF4-FFF2-40B4-BE49-F238E27FC236}">
                    <a16:creationId xmlns:a16="http://schemas.microsoft.com/office/drawing/2014/main" id="{1823A907-DA81-37C0-4DE0-AC1E41DD4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0774" y="1975631"/>
                <a:ext cx="242006" cy="35748"/>
              </a:xfrm>
              <a:prstGeom prst="rect">
                <a:avLst/>
              </a:prstGeom>
              <a:solidFill>
                <a:srgbClr val="7FE8FE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/>
                <a:endParaRPr/>
              </a:p>
            </p:txBody>
          </p:sp>
        </p:grpSp>
      </p:grpSp>
      <p:sp>
        <p:nvSpPr>
          <p:cNvPr id="25" name="사다리꼴 24">
            <a:extLst>
              <a:ext uri="{FF2B5EF4-FFF2-40B4-BE49-F238E27FC236}">
                <a16:creationId xmlns:a16="http://schemas.microsoft.com/office/drawing/2014/main" id="{0F5B460E-B4CF-3361-628C-E6304B8551FA}"/>
              </a:ext>
            </a:extLst>
          </p:cNvPr>
          <p:cNvSpPr/>
          <p:nvPr/>
        </p:nvSpPr>
        <p:spPr>
          <a:xfrm rot="16200000" flipH="1">
            <a:off x="4551709" y="3975617"/>
            <a:ext cx="4159826" cy="247195"/>
          </a:xfrm>
          <a:prstGeom prst="trapezoid">
            <a:avLst>
              <a:gd name="adj" fmla="val 6486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직각 삼각형 25">
            <a:extLst>
              <a:ext uri="{FF2B5EF4-FFF2-40B4-BE49-F238E27FC236}">
                <a16:creationId xmlns:a16="http://schemas.microsoft.com/office/drawing/2014/main" id="{0FC5EA54-C6A7-38F4-AC0F-7BAE38A23EF6}"/>
              </a:ext>
            </a:extLst>
          </p:cNvPr>
          <p:cNvSpPr/>
          <p:nvPr/>
        </p:nvSpPr>
        <p:spPr>
          <a:xfrm>
            <a:off x="7802566" y="4135568"/>
            <a:ext cx="765171" cy="282094"/>
          </a:xfrm>
          <a:prstGeom prst="rtTriangle">
            <a:avLst/>
          </a:prstGeom>
          <a:gradFill>
            <a:gsLst>
              <a:gs pos="0">
                <a:srgbClr val="AAE6FF"/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자유형 1334">
            <a:extLst>
              <a:ext uri="{FF2B5EF4-FFF2-40B4-BE49-F238E27FC236}">
                <a16:creationId xmlns:a16="http://schemas.microsoft.com/office/drawing/2014/main" id="{FDEC23CA-8193-2B1E-5CE9-5A08168CCEE5}"/>
              </a:ext>
            </a:extLst>
          </p:cNvPr>
          <p:cNvSpPr/>
          <p:nvPr/>
        </p:nvSpPr>
        <p:spPr>
          <a:xfrm>
            <a:off x="7057947" y="3903111"/>
            <a:ext cx="2246154" cy="1910737"/>
          </a:xfrm>
          <a:custGeom>
            <a:avLst/>
            <a:gdLst>
              <a:gd name="connsiteX0" fmla="*/ 0 w 419100"/>
              <a:gd name="connsiteY0" fmla="*/ 0 h 298450"/>
              <a:gd name="connsiteX1" fmla="*/ 0 w 419100"/>
              <a:gd name="connsiteY1" fmla="*/ 298450 h 298450"/>
              <a:gd name="connsiteX2" fmla="*/ 419100 w 419100"/>
              <a:gd name="connsiteY2" fmla="*/ 298450 h 29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100" h="298450">
                <a:moveTo>
                  <a:pt x="0" y="0"/>
                </a:moveTo>
                <a:lnTo>
                  <a:pt x="0" y="298450"/>
                </a:lnTo>
                <a:lnTo>
                  <a:pt x="419100" y="298450"/>
                </a:lnTo>
              </a:path>
            </a:pathLst>
          </a:cu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indent="0" algn="ct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517E38-F5D5-684D-52CB-34E1FF29CC13}"/>
              </a:ext>
            </a:extLst>
          </p:cNvPr>
          <p:cNvSpPr/>
          <p:nvPr/>
        </p:nvSpPr>
        <p:spPr>
          <a:xfrm>
            <a:off x="6880966" y="5730217"/>
            <a:ext cx="131446" cy="117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indent="0" algn="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726" b="1" i="0" u="none" strike="noStrike" kern="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 pitchFamily="18" charset="-127"/>
              </a:rPr>
              <a:t>0%</a:t>
            </a:r>
          </a:p>
        </p:txBody>
      </p:sp>
      <p:cxnSp>
        <p:nvCxnSpPr>
          <p:cNvPr id="1226" name="직선 연결선 258">
            <a:extLst>
              <a:ext uri="{FF2B5EF4-FFF2-40B4-BE49-F238E27FC236}">
                <a16:creationId xmlns:a16="http://schemas.microsoft.com/office/drawing/2014/main" id="{43B624C8-CC1C-49C0-A9D5-DA6BB1630370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>
            <a:off x="8128789" y="3068628"/>
            <a:ext cx="0" cy="2141682"/>
          </a:xfrm>
          <a:prstGeom prst="line">
            <a:avLst/>
          </a:prstGeom>
          <a:noFill/>
          <a:ln w="3175">
            <a:solidFill>
              <a:sysClr val="window" lastClr="FFFFFF">
                <a:lumMod val="85000"/>
              </a:sysClr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7" name="직사각형 1226">
            <a:extLst>
              <a:ext uri="{FF2B5EF4-FFF2-40B4-BE49-F238E27FC236}">
                <a16:creationId xmlns:a16="http://schemas.microsoft.com/office/drawing/2014/main" id="{DF2A90A2-5914-31A1-7468-E19E6F7E8278}"/>
              </a:ext>
            </a:extLst>
          </p:cNvPr>
          <p:cNvSpPr/>
          <p:nvPr/>
        </p:nvSpPr>
        <p:spPr>
          <a:xfrm>
            <a:off x="6823129" y="4080704"/>
            <a:ext cx="182742" cy="117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indent="0" algn="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726" b="1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itchFamily="18" charset="-127"/>
              </a:rPr>
              <a:t>30</a:t>
            </a:r>
            <a:r>
              <a:rPr kumimoji="0" lang="en-US" altLang="ko-KR" sz="726" b="1" i="0" u="none" strike="noStrike" kern="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 pitchFamily="18" charset="-127"/>
              </a:rPr>
              <a:t>%</a:t>
            </a:r>
          </a:p>
        </p:txBody>
      </p:sp>
      <p:sp>
        <p:nvSpPr>
          <p:cNvPr id="1228" name="직사각형 1227">
            <a:extLst>
              <a:ext uri="{FF2B5EF4-FFF2-40B4-BE49-F238E27FC236}">
                <a16:creationId xmlns:a16="http://schemas.microsoft.com/office/drawing/2014/main" id="{D4D020C9-F58B-10CA-7AB5-00B5E9E4941A}"/>
              </a:ext>
            </a:extLst>
          </p:cNvPr>
          <p:cNvSpPr/>
          <p:nvPr/>
        </p:nvSpPr>
        <p:spPr>
          <a:xfrm>
            <a:off x="6823127" y="4637405"/>
            <a:ext cx="182742" cy="117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indent="0" algn="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726" b="1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itchFamily="18" charset="-127"/>
              </a:rPr>
              <a:t>20</a:t>
            </a:r>
            <a:r>
              <a:rPr kumimoji="0" lang="en-US" altLang="ko-KR" sz="726" b="1" i="0" u="none" strike="noStrike" kern="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 pitchFamily="18" charset="-127"/>
              </a:rPr>
              <a:t>%</a:t>
            </a:r>
          </a:p>
        </p:txBody>
      </p:sp>
      <p:cxnSp>
        <p:nvCxnSpPr>
          <p:cNvPr id="1229" name="직선 연결선 258">
            <a:extLst>
              <a:ext uri="{FF2B5EF4-FFF2-40B4-BE49-F238E27FC236}">
                <a16:creationId xmlns:a16="http://schemas.microsoft.com/office/drawing/2014/main" id="{87B14417-0269-3C7C-5930-735C8C06F245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>
            <a:off x="8128789" y="3625330"/>
            <a:ext cx="0" cy="2141682"/>
          </a:xfrm>
          <a:prstGeom prst="line">
            <a:avLst/>
          </a:prstGeom>
          <a:noFill/>
          <a:ln w="3175">
            <a:solidFill>
              <a:sysClr val="window" lastClr="FFFFFF">
                <a:lumMod val="85000"/>
              </a:sysClr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0" name="직사각형 1229">
            <a:extLst>
              <a:ext uri="{FF2B5EF4-FFF2-40B4-BE49-F238E27FC236}">
                <a16:creationId xmlns:a16="http://schemas.microsoft.com/office/drawing/2014/main" id="{A5952553-6A23-69ED-384F-34C5E29093D2}"/>
              </a:ext>
            </a:extLst>
          </p:cNvPr>
          <p:cNvSpPr/>
          <p:nvPr/>
        </p:nvSpPr>
        <p:spPr>
          <a:xfrm>
            <a:off x="6823127" y="5194105"/>
            <a:ext cx="182742" cy="117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indent="0" algn="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726" b="1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itchFamily="18" charset="-127"/>
              </a:rPr>
              <a:t>1</a:t>
            </a:r>
            <a:r>
              <a:rPr kumimoji="0" lang="en-US" altLang="ko-KR" sz="726" b="1" i="0" u="none" strike="noStrike" kern="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 pitchFamily="18" charset="-127"/>
              </a:rPr>
              <a:t>0%</a:t>
            </a:r>
          </a:p>
        </p:txBody>
      </p:sp>
      <p:cxnSp>
        <p:nvCxnSpPr>
          <p:cNvPr id="1231" name="직선 연결선 258">
            <a:extLst>
              <a:ext uri="{FF2B5EF4-FFF2-40B4-BE49-F238E27FC236}">
                <a16:creationId xmlns:a16="http://schemas.microsoft.com/office/drawing/2014/main" id="{38F6F443-037E-6DED-FE1D-3AB2E7F238A5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>
            <a:off x="8128789" y="4182032"/>
            <a:ext cx="0" cy="2141682"/>
          </a:xfrm>
          <a:prstGeom prst="line">
            <a:avLst/>
          </a:prstGeom>
          <a:noFill/>
          <a:ln w="3175">
            <a:solidFill>
              <a:sysClr val="window" lastClr="FFFFFF">
                <a:lumMod val="85000"/>
              </a:sysClr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2" name="TextBox 42">
            <a:extLst>
              <a:ext uri="{FF2B5EF4-FFF2-40B4-BE49-F238E27FC236}">
                <a16:creationId xmlns:a16="http://schemas.microsoft.com/office/drawing/2014/main" id="{13776C55-48BD-6360-6BCE-ECBE86F48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7429" y="3958546"/>
            <a:ext cx="365137" cy="132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algn="ctr" defTabSz="914400" eaLnBrk="1" latinLnBrk="0" hangingPunct="1">
              <a:lnSpc>
                <a:spcPct val="100000"/>
              </a:lnSpc>
              <a:spcBef>
                <a:spcPts val="0"/>
              </a:spcBef>
              <a:defRPr kumimoji="0" sz="900" spc="-45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itchFamily="18" charset="-127"/>
                <a:ea typeface="KoPub돋움체 Bold" pitchFamily="18" charset="-127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indent="0">
              <a:lnSpc>
                <a:spcPct val="110000"/>
              </a:lnSpc>
              <a:spcAft>
                <a:spcPct val="0"/>
              </a:spcAft>
            </a:pPr>
            <a:r>
              <a:rPr lang="en-US" altLang="ko-KR" sz="816" kern="0" spc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</a:t>
            </a:r>
            <a:r>
              <a:rPr kumimoji="0" lang="en-US" altLang="ko-KR" sz="816" b="0" i="0" u="none" strike="noStrike" kern="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0%</a:t>
            </a:r>
          </a:p>
        </p:txBody>
      </p:sp>
      <p:sp>
        <p:nvSpPr>
          <p:cNvPr id="1233" name="전문가비율라벨_PB">
            <a:extLst>
              <a:ext uri="{FF2B5EF4-FFF2-40B4-BE49-F238E27FC236}">
                <a16:creationId xmlns:a16="http://schemas.microsoft.com/office/drawing/2014/main" id="{637864F4-BF76-C476-1039-3ED53A6A0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5247" y="4061434"/>
            <a:ext cx="283732" cy="161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ctr" defTabSz="914400" eaLnBrk="1" latinLnBrk="0" hangingPunct="1">
              <a:lnSpc>
                <a:spcPct val="100000"/>
              </a:lnSpc>
              <a:spcBef>
                <a:spcPts val="0"/>
              </a:spcBef>
              <a:defRPr kumimoji="0" sz="900" spc="-45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itchFamily="18" charset="-127"/>
                <a:ea typeface="KoPub돋움체 Bold" pitchFamily="18" charset="-127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indent="0">
              <a:lnSpc>
                <a:spcPct val="110000"/>
              </a:lnSpc>
              <a:spcAft>
                <a:spcPct val="0"/>
              </a:spcAft>
            </a:pPr>
            <a:r>
              <a:rPr kumimoji="0" lang="en-US" altLang="ko-KR" sz="998" b="0" i="0" u="none" strike="noStrike" kern="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655A2"/>
                </a:solidFill>
                <a:effectLst/>
                <a:uLnTx/>
                <a:uFillTx/>
              </a:rPr>
              <a:t>[PB]%</a:t>
            </a:r>
          </a:p>
        </p:txBody>
      </p:sp>
      <p:sp>
        <p:nvSpPr>
          <p:cNvPr id="1234" name="기준비율막대_30퍼센트">
            <a:extLst>
              <a:ext uri="{FF2B5EF4-FFF2-40B4-BE49-F238E27FC236}">
                <a16:creationId xmlns:a16="http://schemas.microsoft.com/office/drawing/2014/main" id="{26C694D3-7602-5B62-D7BE-3A9F5DE99A18}"/>
              </a:ext>
            </a:extLst>
          </p:cNvPr>
          <p:cNvSpPr/>
          <p:nvPr/>
        </p:nvSpPr>
        <p:spPr bwMode="auto">
          <a:xfrm>
            <a:off x="7437191" y="4139468"/>
            <a:ext cx="365613" cy="1730486"/>
          </a:xfrm>
          <a:prstGeom prst="cube">
            <a:avLst/>
          </a:prstGeom>
          <a:solidFill>
            <a:srgbClr val="AAAAAA"/>
          </a:solidFill>
          <a:ln w="635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indent="0" algn="ct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1235" name="사다리꼴 285">
            <a:extLst>
              <a:ext uri="{FF2B5EF4-FFF2-40B4-BE49-F238E27FC236}">
                <a16:creationId xmlns:a16="http://schemas.microsoft.com/office/drawing/2014/main" id="{29146F82-E427-E366-2668-980BCA99FBB0}"/>
              </a:ext>
            </a:extLst>
          </p:cNvPr>
          <p:cNvSpPr/>
          <p:nvPr/>
        </p:nvSpPr>
        <p:spPr bwMode="auto">
          <a:xfrm>
            <a:off x="7218154" y="5813846"/>
            <a:ext cx="803688" cy="266981"/>
          </a:xfrm>
          <a:prstGeom prst="roundRect">
            <a:avLst>
              <a:gd name="adj" fmla="val 50000"/>
            </a:avLst>
          </a:prstGeom>
          <a:solidFill>
            <a:srgbClr val="828282"/>
          </a:solidFill>
          <a:ln w="635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indent="0" algn="ct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1236" name="Text Box 340">
            <a:extLst>
              <a:ext uri="{FF2B5EF4-FFF2-40B4-BE49-F238E27FC236}">
                <a16:creationId xmlns:a16="http://schemas.microsoft.com/office/drawing/2014/main" id="{E24320B0-6C41-8FEF-7DE7-01F50228C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4395" y="5873855"/>
            <a:ext cx="431208" cy="14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algn="ctr" defTabSz="914400" latinLnBrk="0">
              <a:defRPr sz="90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defRPr>
            </a:lvl1pPr>
          </a:lstStyle>
          <a:p>
            <a:pPr inden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en-US" sz="907" b="1" i="0" u="none" strike="noStrike" kern="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white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감리 기준</a:t>
            </a:r>
          </a:p>
        </p:txBody>
      </p:sp>
      <p:sp>
        <p:nvSpPr>
          <p:cNvPr id="1237" name="전문가비율막대_PB_높이연동대상">
            <a:extLst>
              <a:ext uri="{FF2B5EF4-FFF2-40B4-BE49-F238E27FC236}">
                <a16:creationId xmlns:a16="http://schemas.microsoft.com/office/drawing/2014/main" id="{36D275ED-1840-C089-E45C-D5E23E795D56}"/>
              </a:ext>
            </a:extLst>
          </p:cNvPr>
          <p:cNvSpPr/>
          <p:nvPr/>
        </p:nvSpPr>
        <p:spPr bwMode="auto">
          <a:xfrm>
            <a:off x="8564306" y="4319002"/>
            <a:ext cx="365613" cy="1594618"/>
          </a:xfrm>
          <a:prstGeom prst="cube">
            <a:avLst/>
          </a:prstGeom>
          <a:solidFill>
            <a:srgbClr val="1EB4F5"/>
          </a:solidFill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indent="0" algn="ct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1238" name="사다리꼴 285">
            <a:extLst>
              <a:ext uri="{FF2B5EF4-FFF2-40B4-BE49-F238E27FC236}">
                <a16:creationId xmlns:a16="http://schemas.microsoft.com/office/drawing/2014/main" id="{2EBE3467-2B92-4C0A-6A61-B63A85F90C6B}"/>
              </a:ext>
            </a:extLst>
          </p:cNvPr>
          <p:cNvSpPr/>
          <p:nvPr/>
        </p:nvSpPr>
        <p:spPr bwMode="auto">
          <a:xfrm>
            <a:off x="8345268" y="5813846"/>
            <a:ext cx="803688" cy="266981"/>
          </a:xfrm>
          <a:prstGeom prst="roundRect">
            <a:avLst>
              <a:gd name="adj" fmla="val 50000"/>
            </a:avLst>
          </a:prstGeom>
          <a:solidFill>
            <a:srgbClr val="1482CD"/>
          </a:solidFill>
          <a:ln w="635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indent="0" algn="ct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1239" name="Text Box 340">
            <a:extLst>
              <a:ext uri="{FF2B5EF4-FFF2-40B4-BE49-F238E27FC236}">
                <a16:creationId xmlns:a16="http://schemas.microsoft.com/office/drawing/2014/main" id="{242F0368-0AE3-A4A2-066A-CD763C17F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414" y="5870167"/>
            <a:ext cx="317395" cy="15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algn="ctr" defTabSz="914400" latinLnBrk="0">
              <a:defRPr sz="90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defRPr>
            </a:lvl1pPr>
          </a:lstStyle>
          <a:p>
            <a:pPr inden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en-US" sz="953" b="0" i="0" u="none" strike="noStrike" kern="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제안사</a:t>
            </a:r>
          </a:p>
        </p:txBody>
      </p:sp>
      <p:grpSp>
        <p:nvGrpSpPr>
          <p:cNvPr id="1240" name="그룹 1239">
            <a:extLst>
              <a:ext uri="{FF2B5EF4-FFF2-40B4-BE49-F238E27FC236}">
                <a16:creationId xmlns:a16="http://schemas.microsoft.com/office/drawing/2014/main" id="{DEB93951-1B50-BCE6-10F4-BEFD1334A5F5}"/>
              </a:ext>
            </a:extLst>
          </p:cNvPr>
          <p:cNvGrpSpPr/>
          <p:nvPr/>
        </p:nvGrpSpPr>
        <p:grpSpPr>
          <a:xfrm>
            <a:off x="7945648" y="4691931"/>
            <a:ext cx="488951" cy="573408"/>
            <a:chOff x="7960074" y="2845290"/>
            <a:chExt cx="488951" cy="573408"/>
          </a:xfrm>
        </p:grpSpPr>
        <p:sp>
          <p:nvSpPr>
            <p:cNvPr id="1241" name="직각 삼각형 1240">
              <a:extLst>
                <a:ext uri="{FF2B5EF4-FFF2-40B4-BE49-F238E27FC236}">
                  <a16:creationId xmlns:a16="http://schemas.microsoft.com/office/drawing/2014/main" id="{0CE8BCCA-CA67-FFF6-0E60-8900BEB42CC0}"/>
                </a:ext>
              </a:extLst>
            </p:cNvPr>
            <p:cNvSpPr/>
            <p:nvPr/>
          </p:nvSpPr>
          <p:spPr>
            <a:xfrm rot="15101880" flipH="1">
              <a:off x="8272683" y="3293355"/>
              <a:ext cx="156228" cy="94458"/>
            </a:xfrm>
            <a:prstGeom prst="rtTriangle">
              <a:avLst/>
            </a:prstGeom>
            <a:solidFill>
              <a:srgbClr val="E6001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242" name="모서리가 둥근 직사각형 77" descr="ⓒDesigned by 홍은지 디자이너">
              <a:extLst>
                <a:ext uri="{FF2B5EF4-FFF2-40B4-BE49-F238E27FC236}">
                  <a16:creationId xmlns:a16="http://schemas.microsoft.com/office/drawing/2014/main" id="{A54D5B16-72FA-3F7D-0F70-25EF9FD977BF}"/>
                </a:ext>
              </a:extLst>
            </p:cNvPr>
            <p:cNvSpPr/>
            <p:nvPr/>
          </p:nvSpPr>
          <p:spPr>
            <a:xfrm>
              <a:off x="7960074" y="2845290"/>
              <a:ext cx="488951" cy="44090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E60012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altLang="ko-KR" sz="1400" spc="-50" dirty="0">
                  <a:ln w="12700" cap="flat" cmpd="sng" algn="ctr">
                    <a:solidFill>
                      <a:srgbClr val="FF0000">
                        <a:alpha val="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E60012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30%</a:t>
              </a:r>
            </a:p>
            <a:p>
              <a:pPr algn="ctr"/>
              <a:r>
                <a:rPr lang="ko-KR" altLang="en-US" sz="1100" spc="-50" dirty="0">
                  <a:ln w="12700" cap="flat" cmpd="sng" algn="ctr">
                    <a:solidFill>
                      <a:srgbClr val="FF0000">
                        <a:alpha val="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E60012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[판정]</a:t>
              </a:r>
            </a:p>
          </p:txBody>
        </p:sp>
      </p:grpSp>
      <p:pic>
        <p:nvPicPr>
          <p:cNvPr id="1243" name="그림 1242">
            <a:extLst>
              <a:ext uri="{FF2B5EF4-FFF2-40B4-BE49-F238E27FC236}">
                <a16:creationId xmlns:a16="http://schemas.microsoft.com/office/drawing/2014/main" id="{B5DAE288-C9E9-CE1C-32AC-A17DD4197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154" y="2005412"/>
            <a:ext cx="2016355" cy="1341556"/>
          </a:xfrm>
          <a:prstGeom prst="rect">
            <a:avLst/>
          </a:prstGeom>
        </p:spPr>
      </p:pic>
      <p:pic>
        <p:nvPicPr>
          <p:cNvPr id="1244" name="그림 1243">
            <a:extLst>
              <a:ext uri="{FF2B5EF4-FFF2-40B4-BE49-F238E27FC236}">
                <a16:creationId xmlns:a16="http://schemas.microsoft.com/office/drawing/2014/main" id="{8AAB4196-D6E5-998B-C2C9-169DEF8C90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72" y="3032295"/>
            <a:ext cx="1107308" cy="343802"/>
          </a:xfrm>
          <a:prstGeom prst="rect">
            <a:avLst/>
          </a:prstGeom>
        </p:spPr>
      </p:pic>
      <p:sp>
        <p:nvSpPr>
          <p:cNvPr id="1245" name="TextBox 1244">
            <a:extLst>
              <a:ext uri="{FF2B5EF4-FFF2-40B4-BE49-F238E27FC236}">
                <a16:creationId xmlns:a16="http://schemas.microsoft.com/office/drawing/2014/main" id="{AB125966-C0CB-8B96-DF21-C08180E54D0E}"/>
              </a:ext>
            </a:extLst>
          </p:cNvPr>
          <p:cNvSpPr txBox="1"/>
          <p:nvPr/>
        </p:nvSpPr>
        <p:spPr>
          <a:xfrm>
            <a:off x="6761018" y="6224771"/>
            <a:ext cx="2618565" cy="243340"/>
          </a:xfrm>
          <a:prstGeom prst="rect">
            <a:avLst/>
          </a:prstGeom>
        </p:spPr>
        <p:txBody>
          <a:bodyPr lIns="34290" tIns="0" rIns="34290" bIns="0" rtlCol="0" anchor="ctr"/>
          <a:lstStyle/>
          <a:p>
            <a:pPr marL="111125" indent="-111125">
              <a:lnSpc>
                <a:spcPct val="110000"/>
              </a:lnSpc>
            </a:pPr>
            <a:r>
              <a:rPr lang="en-US" altLang="ko-KR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※ </a:t>
            </a:r>
            <a:r>
              <a:rPr lang="ko-KR" altLang="en-US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정보시스템 감리기준 제</a:t>
            </a:r>
            <a:r>
              <a:rPr lang="en-US" altLang="ko-KR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</a:t>
            </a:r>
            <a:r>
              <a:rPr lang="ko-KR" altLang="en-US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</a:t>
            </a:r>
            <a:r>
              <a:rPr lang="en-US" altLang="ko-KR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감리인력 배치</a:t>
            </a:r>
            <a:r>
              <a:rPr lang="en-US" altLang="ko-KR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따라</a:t>
            </a:r>
          </a:p>
          <a:p>
            <a:pPr marL="111125" indent="-111125">
              <a:lnSpc>
                <a:spcPct val="110000"/>
              </a:lnSpc>
            </a:pPr>
            <a:r>
              <a:rPr lang="en-US" altLang="ko-KR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[비율검토문구]</a:t>
            </a:r>
            <a:r>
              <a:rPr lang="ko-KR" altLang="en-US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/>
            </a:r>
            <a:r>
              <a:rPr lang="en-US" altLang="ko-KR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/>
            </a:r>
            <a:r>
              <a:rPr lang="ko-KR" altLang="en-US" sz="8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/>
            </a:r>
          </a:p>
        </p:txBody>
      </p:sp>
      <p:pic>
        <p:nvPicPr>
          <p:cNvPr id="1246" name="그림 1245">
            <a:extLst>
              <a:ext uri="{FF2B5EF4-FFF2-40B4-BE49-F238E27FC236}">
                <a16:creationId xmlns:a16="http://schemas.microsoft.com/office/drawing/2014/main" id="{D812D42D-E42E-BA84-F178-278DF5C9D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0695" y="3628270"/>
            <a:ext cx="3898384" cy="26886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제안서 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KoPub돋움체 Bold"/>
        <a:cs typeface=""/>
      </a:majorFont>
      <a:minorFont>
        <a:latin typeface="맑은 고딕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210</Words>
  <Application>Microsoft Office PowerPoint</Application>
  <PresentationFormat>A4 용지(210x297mm)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KoPub돋움체 Bold</vt:lpstr>
      <vt:lpstr>KoPub돋움체 Medium</vt:lpstr>
      <vt:lpstr>맑은 고딕</vt:lpstr>
      <vt:lpstr>Arial</vt:lpstr>
      <vt:lpstr>제안서 마스터</vt:lpstr>
      <vt:lpstr>PowerPoint 프레젠테이션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jhkim</dc:creator>
  <cp:lastModifiedBy>현호 김</cp:lastModifiedBy>
  <cp:revision>106</cp:revision>
  <dcterms:created xsi:type="dcterms:W3CDTF">2021-04-04T03:38:05Z</dcterms:created>
  <dcterms:modified xsi:type="dcterms:W3CDTF">2026-09-18T21:51:56Z</dcterms:modified>
</cp:coreProperties>
</file>