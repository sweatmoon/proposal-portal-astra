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3"/>
  </p:handoutMasterIdLst>
  <p:sldIdLst>
    <p:sldId id="292" r:id="rId2"/>
  </p:sldIdLst>
  <p:sldSz cx="9906000" cy="6858000" type="A4"/>
  <p:notesSz cx="9144000" cy="6858000"/>
  <p:defaultTextStyle>
    <a:defPPr>
      <a:defRPr lang="en-US"/>
    </a:defPPr>
    <a:lvl1pPr marL="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3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7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66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1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1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88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404040"/>
    <a:srgbClr val="D2D2D2"/>
    <a:srgbClr val="828282"/>
    <a:srgbClr val="AAAAAA"/>
    <a:srgbClr val="D9D9D9"/>
    <a:srgbClr val="E2E6EA"/>
    <a:srgbClr val="B0F7FE"/>
    <a:srgbClr val="001E7E"/>
    <a:srgbClr val="165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343" autoAdjust="0"/>
  </p:normalViewPr>
  <p:slideViewPr>
    <p:cSldViewPr snapToGrid="0" showGuides="1">
      <p:cViewPr varScale="1">
        <p:scale>
          <a:sx n="104" d="100"/>
          <a:sy n="104" d="100"/>
        </p:scale>
        <p:origin x="7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13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5EDAC5-12DD-4086-8440-6AB47247C8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CD6CD1-F588-4783-8A90-F81E01624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15A6-5B64-46A6-A706-6C3B14B8946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41CFD0-110E-47D1-AD36-97A7954C8A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8B5879-F878-4A00-AAC5-FAE349B387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C7649-53EC-43D1-B4A6-E9EE41E7E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7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7D6B1-0E90-8C86-3653-441E2B9F9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A1E908-BF1C-B9BC-8B29-CF4BBFEE3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74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감리 품질보증 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17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ctr" defTabSz="1532520" rtl="0" eaLnBrk="1" latinLnBrk="1" hangingPunct="1">
        <a:spcBef>
          <a:spcPct val="0"/>
        </a:spcBef>
        <a:buNone/>
        <a:defRPr sz="73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693" indent="-574693" algn="l" defTabSz="1532520" rtl="0" eaLnBrk="1" latinLnBrk="1" hangingPunct="1">
        <a:spcBef>
          <a:spcPct val="20000"/>
        </a:spcBef>
        <a:buFont typeface="Arial" pitchFamily="34" charset="0"/>
        <a:buChar char="•"/>
        <a:defRPr sz="5441" kern="1200">
          <a:solidFill>
            <a:schemeClr val="tx1"/>
          </a:solidFill>
          <a:latin typeface="+mn-lt"/>
          <a:ea typeface="+mn-ea"/>
          <a:cs typeface="+mn-cs"/>
        </a:defRPr>
      </a:lvl1pPr>
      <a:lvl2pPr marL="1245174" indent="-478915" algn="l" defTabSz="1532520" rtl="0" eaLnBrk="1" latinLnBrk="1" hangingPunct="1">
        <a:spcBef>
          <a:spcPct val="20000"/>
        </a:spcBef>
        <a:buFont typeface="Arial" pitchFamily="34" charset="0"/>
        <a:buChar char="–"/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1915651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81912" indent="-383131" algn="l" defTabSz="153252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48171" indent="-383131" algn="l" defTabSz="1532520" rtl="0" eaLnBrk="1" latinLnBrk="1" hangingPunct="1">
        <a:spcBef>
          <a:spcPct val="20000"/>
        </a:spcBef>
        <a:buFont typeface="Arial" pitchFamily="34" charset="0"/>
        <a:buChar char="»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14430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498069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746952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51321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1pPr>
      <a:lvl2pPr marL="7662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2pPr>
      <a:lvl3pPr marL="153252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3pPr>
      <a:lvl4pPr marL="229878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4pPr>
      <a:lvl5pPr marL="306504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5pPr>
      <a:lvl6pPr marL="383130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6pPr>
      <a:lvl7pPr marL="45975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7pPr>
      <a:lvl8pPr marL="5363822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8pPr>
      <a:lvl9pPr marL="613008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88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pos="5910" userDrawn="1">
          <p15:clr>
            <a:srgbClr val="F26B43"/>
          </p15:clr>
        </p15:guide>
        <p15:guide id="7" pos="330" userDrawn="1">
          <p15:clr>
            <a:srgbClr val="F26B43"/>
          </p15:clr>
        </p15:guide>
        <p15:guide id="8" orient="horz" pos="436" userDrawn="1">
          <p15:clr>
            <a:srgbClr val="F26B43"/>
          </p15:clr>
        </p15:guide>
        <p15:guide id="9" pos="3120" userDrawn="1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4" orient="horz" pos="1003" userDrawn="1">
          <p15:clr>
            <a:srgbClr val="F26B43"/>
          </p15:clr>
        </p15:guide>
        <p15:guide id="17" orient="horz" pos="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TextBox 1268">
            <a:extLst>
              <a:ext uri="{FF2B5EF4-FFF2-40B4-BE49-F238E27FC236}">
                <a16:creationId xmlns:a16="http://schemas.microsoft.com/office/drawing/2014/main" id="{4057D731-D28B-D69B-FEFE-20F412BADE6E}"/>
              </a:ext>
            </a:extLst>
          </p:cNvPr>
          <p:cNvSpPr txBox="1"/>
          <p:nvPr/>
        </p:nvSpPr>
        <p:spPr>
          <a:xfrm>
            <a:off x="745617" y="692150"/>
            <a:ext cx="8420608" cy="433451"/>
          </a:xfrm>
          <a:prstGeom prst="rect">
            <a:avLst/>
          </a:prstGeom>
        </p:spPr>
        <p:txBody>
          <a:bodyPr lIns="171450" tIns="0" rIns="0" bIns="0" rtlCol="0" anchor="ctr"/>
          <a:lstStyle>
            <a:defPPr>
              <a:defRPr lang="en-US"/>
            </a:defPPr>
            <a:lvl1pPr>
              <a:defRPr sz="2000" spc="-50">
                <a:solidFill>
                  <a:srgbClr val="000000"/>
                </a:solidFill>
                <a:latin typeface="KoPub돋움체 Bold"/>
              </a:defRPr>
            </a:lvl1pPr>
          </a:lstStyle>
          <a:p>
            <a:r>
              <a:rPr lang="en-US" altLang="ko-KR" b="1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b="1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제목</a:t>
            </a:r>
            <a:r>
              <a:rPr lang="en-US" altLang="ko-KR" b="1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endParaRPr lang="en-US" b="1" dirty="0"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갈매기형 수장 165">
            <a:extLst>
              <a:ext uri="{FF2B5EF4-FFF2-40B4-BE49-F238E27FC236}">
                <a16:creationId xmlns:a16="http://schemas.microsoft.com/office/drawing/2014/main" id="{F0A04115-2499-B263-472F-23D45B0D518F}"/>
              </a:ext>
            </a:extLst>
          </p:cNvPr>
          <p:cNvSpPr>
            <a:spLocks/>
          </p:cNvSpPr>
          <p:nvPr/>
        </p:nvSpPr>
        <p:spPr>
          <a:xfrm>
            <a:off x="5298002" y="748145"/>
            <a:ext cx="2059881" cy="290664"/>
          </a:xfrm>
          <a:prstGeom prst="chevron">
            <a:avLst>
              <a:gd name="adj" fmla="val 52273"/>
            </a:avLst>
          </a:prstGeom>
          <a:solidFill>
            <a:srgbClr val="135091"/>
          </a:solidFill>
          <a:ln>
            <a:noFill/>
          </a:ln>
        </p:spPr>
        <p:txBody>
          <a:bodyPr vert="horz" wrap="none" lIns="0" tIns="0" rIns="0" bIns="0" anchor="ctr" anchorCtr="0"/>
          <a:lstStyle/>
          <a:p>
            <a:pPr algn="ctr"/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[준수요약]</a:t>
            </a:r>
            <a:r>
              <a:rPr lang="en-US" altLang="ko-KR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/>
            </a:r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/>
            </a:r>
          </a:p>
        </p:txBody>
      </p:sp>
      <p:sp>
        <p:nvSpPr>
          <p:cNvPr id="5" name="갈매기형 수장 165">
            <a:extLst>
              <a:ext uri="{FF2B5EF4-FFF2-40B4-BE49-F238E27FC236}">
                <a16:creationId xmlns:a16="http://schemas.microsoft.com/office/drawing/2014/main" id="{DA41805E-F0B1-89E3-A37E-2D3AA81CD712}"/>
              </a:ext>
            </a:extLst>
          </p:cNvPr>
          <p:cNvSpPr>
            <a:spLocks/>
          </p:cNvSpPr>
          <p:nvPr/>
        </p:nvSpPr>
        <p:spPr>
          <a:xfrm flipH="1">
            <a:off x="7322245" y="748145"/>
            <a:ext cx="2059881" cy="290664"/>
          </a:xfrm>
          <a:prstGeom prst="chevron">
            <a:avLst>
              <a:gd name="adj" fmla="val 52273"/>
            </a:avLst>
          </a:prstGeom>
          <a:solidFill>
            <a:srgbClr val="135091"/>
          </a:solidFill>
          <a:ln>
            <a:noFill/>
          </a:ln>
        </p:spPr>
        <p:txBody>
          <a:bodyPr vert="horz" wrap="none" lIns="0" tIns="0" rIns="0" bIns="0" anchor="ctr" anchorCtr="0"/>
          <a:lstStyle/>
          <a:p>
            <a:pPr algn="ctr"/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[추가제안요약]</a:t>
            </a:r>
          </a:p>
        </p:txBody>
      </p:sp>
      <p:graphicFrame>
        <p:nvGraphicFramePr>
          <p:cNvPr id="6" name="Group 73">
            <a:extLst>
              <a:ext uri="{FF2B5EF4-FFF2-40B4-BE49-F238E27FC236}">
                <a16:creationId xmlns:a16="http://schemas.microsoft.com/office/drawing/2014/main" id="{187EDDBB-F78A-372D-4D01-3C2A72EFE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659941"/>
              </p:ext>
            </p:extLst>
          </p:nvPr>
        </p:nvGraphicFramePr>
        <p:xfrm>
          <a:off x="523875" y="1273242"/>
          <a:ext cx="8858250" cy="534408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9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280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요청 구분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제안요청 내용 </a:t>
                      </a:r>
                      <a:r>
                        <a:rPr kumimoji="0" lang="en-US" altLang="ko-KR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(RFP)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충족 여부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 내역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8410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 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단계 감리 실시
최소 감리 일수 :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 감리 일수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[방법일수판정]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[단계구분]
[단계별감리일정]
[일수비교기준]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/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/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/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147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투입 공수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 공수: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 투입 공수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MD 이상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[공수판정]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전체 배정 공수: [공수합계] MD
감리원: 기본 [기본감리공수] / 추가 [추가공수] MD
전문가 [전문가공수] / 테스트 [테스트공수] MD
[공수비교내역]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31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총괄 감리원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전문성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해당 감리 법인의 상근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실제 감리에 투입된 기간이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이상인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수석 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[총괄판정]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총괄 감리원(PM): [총괄감리원]
[총괄자격]
[총괄경력]
[총괄검토사항]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473969"/>
                  </a:ext>
                </a:extLst>
              </a:tr>
              <a:tr h="1088410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감리원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행정안전부에 등록된  수석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상근 감리원이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이상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[감리원판정]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[감리원구성]
[감리원분야]
[감리원검토사항]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280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공통 사항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분야별 경험 있는 전문가 제안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발주자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조직에 최신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기술 소개 및 교육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[공통판정]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[전문가구성]
교육 계획: [교육계획]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/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/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/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/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D99C5B62-12B5-C9EF-BC8E-F7E67BF0853F}"/>
              </a:ext>
            </a:extLst>
          </p:cNvPr>
          <p:cNvGrpSpPr/>
          <p:nvPr/>
        </p:nvGrpSpPr>
        <p:grpSpPr>
          <a:xfrm>
            <a:off x="8484323" y="2655521"/>
            <a:ext cx="894133" cy="894133"/>
            <a:chOff x="4126302" y="7108691"/>
            <a:chExt cx="1236023" cy="12633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78527F7-2A80-82C5-C8F1-08607B77B2A5}"/>
                </a:ext>
              </a:extLst>
            </p:cNvPr>
            <p:cNvSpPr/>
            <p:nvPr/>
          </p:nvSpPr>
          <p:spPr>
            <a:xfrm>
              <a:off x="4126302" y="7108691"/>
              <a:ext cx="1236023" cy="1263312"/>
            </a:xfrm>
            <a:prstGeom prst="ellipse">
              <a:avLst/>
            </a:prstGeom>
            <a:solidFill>
              <a:srgbClr val="F2CED9"/>
            </a:solidFill>
            <a:ln w="19050" cap="flat" cmpd="sng" algn="ctr">
              <a:solidFill>
                <a:srgbClr val="D63E57"/>
              </a:solidFill>
              <a:prstDash val="solid"/>
            </a:ln>
            <a:effectLst/>
          </p:spPr>
          <p:txBody>
            <a:bodyPr wrap="square" lIns="70499" tIns="0" rIns="0" bIns="0" rtlCol="0" anchor="ctr"/>
            <a:lstStyle/>
            <a:p>
              <a:pPr indent="0">
                <a:lnSpc>
                  <a:spcPct val="100000"/>
                </a:lnSpc>
                <a:spcBef>
                  <a:spcPct val="0"/>
                </a:spcBef>
                <a:spcAft>
                  <a:spcPts val="294"/>
                </a:spcAft>
              </a:pPr>
              <a:endParaRPr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E73AB291-1AC4-947D-3746-5C785C4F5AF0}"/>
                </a:ext>
              </a:extLst>
            </p:cNvPr>
            <p:cNvSpPr/>
            <p:nvPr/>
          </p:nvSpPr>
          <p:spPr>
            <a:xfrm>
              <a:off x="4203553" y="7187648"/>
              <a:ext cx="1081520" cy="1105398"/>
            </a:xfrm>
            <a:prstGeom prst="ellips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06EF995-C329-7D24-CEF3-D2B851DB0ED3}"/>
                </a:ext>
              </a:extLst>
            </p:cNvPr>
            <p:cNvSpPr/>
            <p:nvPr/>
          </p:nvSpPr>
          <p:spPr>
            <a:xfrm>
              <a:off x="4242324" y="7266721"/>
              <a:ext cx="1003976" cy="94725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배정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공수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판정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[공수판정]</a:t>
              </a: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/>
              </a:r>
            </a:p>
          </p:txBody>
        </p:sp>
      </p:grpSp>
      <p:graphicFrame>
        <p:nvGraphicFramePr>
          <p:cNvPr id="12" name="Group 73">
            <a:extLst>
              <a:ext uri="{FF2B5EF4-FFF2-40B4-BE49-F238E27FC236}">
                <a16:creationId xmlns:a16="http://schemas.microsoft.com/office/drawing/2014/main" id="{A31E409A-A11F-35C7-7E4E-5A50A6CB0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305232"/>
              </p:ext>
            </p:extLst>
          </p:nvPr>
        </p:nvGraphicFramePr>
        <p:xfrm>
          <a:off x="10344150" y="1273243"/>
          <a:ext cx="8858250" cy="517906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9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924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요청 구분</a:t>
                      </a:r>
                    </a:p>
                  </a:txBody>
                  <a:tcPr marL="72000" marR="72000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제안요청 내용 </a:t>
                      </a:r>
                      <a:r>
                        <a:rPr kumimoji="0" lang="en-US" altLang="ko-KR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(RFP)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충족 여부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 내역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331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검수지원 실시 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단계, 설계 단계, 종료 단계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검수지원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일정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요구정의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(7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~ 8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설계단계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(9~10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종료단계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(23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02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
최소 감리 일수 : 7일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 +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추가 감리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사전점검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: 2025.09.08 ~ 2025.09.12 (현장감리 5일)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: 2025.09.18 ~ 2025.09.26 (현장감리 7일)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설계 : 2025.11.10 ~ 2025.11.18 (현장감리 7일)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구현(상시)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2026.03.23 ~ 2026.03.27 (현장감리 5일)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종료 : 2026.05.26 ~ 2026.06.05 (현장감리 9일)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상주감리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: 2025.09.15 ~ 2026.07.10 (현장감리 150일)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검수지원 : 2026.07.06 ~ 2026.07.10 (현장감리 5일)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924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투입 공수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96838" indent="-96838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 공수: 184MD 이상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전체 투입 공수  -</a:t>
                      </a:r>
                      <a:r>
                        <a:rPr kumimoji="1" lang="en-US" altLang="ko-KR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 311 MD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요청공수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대비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169%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 감리팀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212 MD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(요구정의/설계/구현/종료 단계별 감리원 7명)
전문가팀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69 MD
테스트팀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30 MD</a:t>
                      </a:r>
                      <a:endParaRPr kumimoji="1" lang="en-US" altLang="ko-KR" sz="1000" b="0" i="0" u="none" strike="noStrike" kern="0" cap="none" spc="-7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F74377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47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총괄 감리원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전문성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해당 감리 법인의 상근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실제 감리에 투입된 기간이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이상인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수석 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987981"/>
                  </a:ext>
                </a:extLst>
              </a:tr>
              <a:tr h="622088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감리원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행정안전부에 등록된  수석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상근 감리원이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이상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총괄 감리원(PM) : 김종훈 수석 감리원 (상근)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총괄 수행  60건 , 감리 경력 1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/ 154건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- (주)공영홈쇼핑 사업 감리 </a:t>
                      </a:r>
                      <a:r>
                        <a:rPr kumimoji="0" lang="ko-KR" altLang="en-US" sz="1000" b="0" i="0" u="none" strike="noStrike" kern="1200" cap="none" spc="-5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총괄로서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사업의 성공 완료 지원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GS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홈쇼핑에서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IT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EC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플랫폼 재구축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SMART4C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등 차세대 홈쇼핑 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개발 실무 경험</a:t>
                      </a:r>
                      <a:b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74377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서강대, KIST 등에서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소프트웨어 아키텍처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인공지능 로봇 연구/개발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365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공통 사항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분야별 경험 있는 전문가 제안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발주자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조직에 최신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기술 소개 및 교육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 7명 : 100% 상근 수석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홈쇼핑, 온라인몰, 플랫폼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커머스, 정보보안 등 관련 사업 실무 및 감리 경험자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6329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 실시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단계, 설계 단계, 종료 단계
일정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요구정의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(7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~ 8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설계단계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(9~10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종료단계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(23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02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최소 감리 일수 : 5일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 실무 경험 보유 전문가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명 투입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(IT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UI/UX,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모바일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클라우드 인프라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– GS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E60012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핵심 기술 전문가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UI/UX, 웹접근성 및 웹호환성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모바일 웹/앱, 개인화 상품 추천 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필수 기술 전문가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DB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최적화, 데이터 품질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클라우드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시스템 성능 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보안 진단 전문가 3명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웹취약점,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SW개발보안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개인정보보호 )
제3자 관점 점검을 위한 기능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테스트 전문가 2명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최신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기술 교육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회 이상 실시 예정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인공지능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클라우드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블록체인 등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248286"/>
                  </a:ext>
                </a:extLst>
              </a:tr>
            </a:tbl>
          </a:graphicData>
        </a:graphic>
      </p:graphicFrame>
      <p:sp>
        <p:nvSpPr>
          <p:cNvPr id="13" name="육각형 12" descr="ⓒDesigned by 홍은지 디자이너">
            <a:extLst>
              <a:ext uri="{FF2B5EF4-FFF2-40B4-BE49-F238E27FC236}">
                <a16:creationId xmlns:a16="http://schemas.microsoft.com/office/drawing/2014/main" id="{8FE65B35-7625-D287-07B2-5E688B535B8D}"/>
              </a:ext>
            </a:extLst>
          </p:cNvPr>
          <p:cNvSpPr/>
          <p:nvPr/>
        </p:nvSpPr>
        <p:spPr>
          <a:xfrm rot="16200000">
            <a:off x="12549696" y="6723497"/>
            <a:ext cx="1152834" cy="992322"/>
          </a:xfrm>
          <a:prstGeom prst="hexagon">
            <a:avLst>
              <a:gd name="adj" fmla="val 30304"/>
              <a:gd name="vf" fmla="val 115470"/>
            </a:avLst>
          </a:prstGeom>
          <a:solidFill>
            <a:schemeClr val="bg1"/>
          </a:solidFill>
          <a:ln w="47625">
            <a:solidFill>
              <a:srgbClr val="FF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wrap="none" lIns="0" tIns="0" rIns="0" bIns="0" anchor="ctr"/>
          <a:lstStyle/>
          <a:p>
            <a: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0" i="0" u="none" strike="noStrike" kern="0" cap="none" spc="-64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양질의</a:t>
            </a:r>
          </a:p>
        </p:txBody>
      </p:sp>
      <p:sp>
        <p:nvSpPr>
          <p:cNvPr id="14" name="설명선: 아래쪽 화살표 13">
            <a:extLst>
              <a:ext uri="{FF2B5EF4-FFF2-40B4-BE49-F238E27FC236}">
                <a16:creationId xmlns:a16="http://schemas.microsoft.com/office/drawing/2014/main" id="{30BECF16-44F6-A628-248F-60B90868AC86}"/>
              </a:ext>
            </a:extLst>
          </p:cNvPr>
          <p:cNvSpPr/>
          <p:nvPr/>
        </p:nvSpPr>
        <p:spPr>
          <a:xfrm flipH="1">
            <a:off x="18195822" y="4721807"/>
            <a:ext cx="995864" cy="566863"/>
          </a:xfrm>
          <a:prstGeom prst="downArrowCallout">
            <a:avLst/>
          </a:prstGeom>
          <a:solidFill>
            <a:srgbClr val="F73A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ko-KR" altLang="en-US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추가 제안</a:t>
            </a:r>
          </a:p>
          <a:p>
            <a:pPr algn="ctr"/>
            <a:r>
              <a:rPr lang="en-US" altLang="ko-KR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홈쇼핑 전문가</a:t>
            </a:r>
            <a:r>
              <a:rPr lang="en-US" altLang="ko-KR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AAE9F61-9C8D-C9C2-A1CC-6946323BDD3E}"/>
              </a:ext>
            </a:extLst>
          </p:cNvPr>
          <p:cNvGrpSpPr/>
          <p:nvPr/>
        </p:nvGrpSpPr>
        <p:grpSpPr>
          <a:xfrm flipH="1">
            <a:off x="10223376" y="6997703"/>
            <a:ext cx="967092" cy="484197"/>
            <a:chOff x="495500" y="4383768"/>
            <a:chExt cx="443694" cy="218985"/>
          </a:xfrm>
          <a:solidFill>
            <a:srgbClr val="0C1C8D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6" name="달 15">
              <a:extLst>
                <a:ext uri="{FF2B5EF4-FFF2-40B4-BE49-F238E27FC236}">
                  <a16:creationId xmlns:a16="http://schemas.microsoft.com/office/drawing/2014/main" id="{E9B67C8A-E30F-CDBF-1DEA-D9725192C314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7" name="모서리가 둥근 직사각형 218">
              <a:extLst>
                <a:ext uri="{FF2B5EF4-FFF2-40B4-BE49-F238E27FC236}">
                  <a16:creationId xmlns:a16="http://schemas.microsoft.com/office/drawing/2014/main" id="{5AC3697D-DE49-255E-DA91-B6D28F8D0C1B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상시 감리 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2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회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DB05CC7-7BBE-7C54-C5D6-439564B9080B}"/>
              </a:ext>
            </a:extLst>
          </p:cNvPr>
          <p:cNvGrpSpPr/>
          <p:nvPr/>
        </p:nvGrpSpPr>
        <p:grpSpPr>
          <a:xfrm flipH="1">
            <a:off x="11426664" y="6997703"/>
            <a:ext cx="967092" cy="484197"/>
            <a:chOff x="495500" y="4383768"/>
            <a:chExt cx="443694" cy="218985"/>
          </a:xfrm>
          <a:solidFill>
            <a:srgbClr val="0C1C8D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9" name="달 18">
              <a:extLst>
                <a:ext uri="{FF2B5EF4-FFF2-40B4-BE49-F238E27FC236}">
                  <a16:creationId xmlns:a16="http://schemas.microsoft.com/office/drawing/2014/main" id="{9F9494AD-E2D4-8940-5083-BA127B1C04C5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20" name="모서리가 둥근 직사각형 218">
              <a:extLst>
                <a:ext uri="{FF2B5EF4-FFF2-40B4-BE49-F238E27FC236}">
                  <a16:creationId xmlns:a16="http://schemas.microsoft.com/office/drawing/2014/main" id="{0523859C-03BF-8624-0BB2-C4ED0CBA9F1C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전문가 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+ 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테스터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186879-D8B3-FA76-E57E-9C6BBAC82D9B}"/>
              </a:ext>
            </a:extLst>
          </p:cNvPr>
          <p:cNvSpPr/>
          <p:nvPr/>
        </p:nvSpPr>
        <p:spPr>
          <a:xfrm>
            <a:off x="10010694" y="0"/>
            <a:ext cx="3128051" cy="127324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작업 방법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장표 내용 작성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아래 표를 참고하여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문단정리 및 강조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강조할 부분 박스 표시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 아이콘 사용 강조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작업 방법 및 아래 설명 객체 모두 삭제</a:t>
            </a:r>
          </a:p>
        </p:txBody>
      </p:sp>
      <p:sp>
        <p:nvSpPr>
          <p:cNvPr id="22" name="모서리가 둥근 직사각형 54">
            <a:extLst>
              <a:ext uri="{FF2B5EF4-FFF2-40B4-BE49-F238E27FC236}">
                <a16:creationId xmlns:a16="http://schemas.microsoft.com/office/drawing/2014/main" id="{2C075F65-C20E-1AA8-CC21-311D26377CE8}"/>
              </a:ext>
            </a:extLst>
          </p:cNvPr>
          <p:cNvSpPr/>
          <p:nvPr/>
        </p:nvSpPr>
        <p:spPr>
          <a:xfrm>
            <a:off x="14412321" y="1695451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D196084-C3A8-6E9B-963A-17F5F4AC44F0}"/>
              </a:ext>
            </a:extLst>
          </p:cNvPr>
          <p:cNvGrpSpPr/>
          <p:nvPr/>
        </p:nvGrpSpPr>
        <p:grpSpPr>
          <a:xfrm flipH="1">
            <a:off x="17134156" y="1927514"/>
            <a:ext cx="1072698" cy="575820"/>
            <a:chOff x="495500" y="4383768"/>
            <a:chExt cx="443694" cy="218985"/>
          </a:xfrm>
          <a:solidFill>
            <a:srgbClr val="E60012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24" name="달 23">
              <a:extLst>
                <a:ext uri="{FF2B5EF4-FFF2-40B4-BE49-F238E27FC236}">
                  <a16:creationId xmlns:a16="http://schemas.microsoft.com/office/drawing/2014/main" id="{37847E86-52E6-5D36-DFC7-4ECF08DDF193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25" name="모서리가 둥근 직사각형 218">
              <a:extLst>
                <a:ext uri="{FF2B5EF4-FFF2-40B4-BE49-F238E27FC236}">
                  <a16:creationId xmlns:a16="http://schemas.microsoft.com/office/drawing/2014/main" id="{106FE1AC-F9D9-2648-1C28-93CE8F6C7629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사전점검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,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구현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,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상주감리 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sp>
        <p:nvSpPr>
          <p:cNvPr id="26" name="모서리가 둥근 직사각형 54">
            <a:extLst>
              <a:ext uri="{FF2B5EF4-FFF2-40B4-BE49-F238E27FC236}">
                <a16:creationId xmlns:a16="http://schemas.microsoft.com/office/drawing/2014/main" id="{7DD9C757-7AC1-D278-0FD9-405CF2084152}"/>
              </a:ext>
            </a:extLst>
          </p:cNvPr>
          <p:cNvSpPr/>
          <p:nvPr/>
        </p:nvSpPr>
        <p:spPr>
          <a:xfrm>
            <a:off x="14412321" y="2285159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sp>
        <p:nvSpPr>
          <p:cNvPr id="27" name="모서리가 둥근 직사각형 54">
            <a:extLst>
              <a:ext uri="{FF2B5EF4-FFF2-40B4-BE49-F238E27FC236}">
                <a16:creationId xmlns:a16="http://schemas.microsoft.com/office/drawing/2014/main" id="{34A2266C-37C3-B0E1-82AF-E71A99677F46}"/>
              </a:ext>
            </a:extLst>
          </p:cNvPr>
          <p:cNvSpPr/>
          <p:nvPr/>
        </p:nvSpPr>
        <p:spPr>
          <a:xfrm>
            <a:off x="14412321" y="2687417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386224-1733-BD8E-31A2-FF05B4E13475}"/>
              </a:ext>
            </a:extLst>
          </p:cNvPr>
          <p:cNvSpPr/>
          <p:nvPr/>
        </p:nvSpPr>
        <p:spPr>
          <a:xfrm>
            <a:off x="13291960" y="0"/>
            <a:ext cx="4415015" cy="119728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요청 투입 공수가 없을 시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아래 내용 사용</a:t>
            </a:r>
          </a:p>
          <a:p>
            <a:pPr marL="84138" indent="-84138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rgbClr val="969696"/>
              </a:buClr>
              <a:buSzPts val="800"/>
              <a:buFont typeface="Wingdings"/>
              <a:buChar char="§"/>
            </a:pPr>
            <a:r>
              <a:rPr kumimoji="1" lang="ko-KR" altLang="en-US" sz="1000" spc="-8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 사업 감리를 위한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정보시스템 감리기준 제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5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조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(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감리인력 배치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)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및 정보시스템 감리 발주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․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관리 가이드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, “2.1.3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감리인력 배치기준” 및 최소감리기간을 고려하여 적정한 수준의 </a:t>
            </a:r>
            <a:r>
              <a:rPr kumimoji="1" lang="ko-KR" altLang="en-US" sz="1000" b="0" i="0" u="none" strike="noStrike" kern="1200" cap="none" spc="-80" normalizeH="0" baseline="0" noProof="0" dirty="0" err="1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투입공수를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 제시하여야 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제안서 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KoPub돋움체 Bold"/>
        <a:cs typeface=""/>
      </a:majorFont>
      <a:minorFont>
        <a:latin typeface="맑은 고딕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1006</Words>
  <Application>Microsoft Office PowerPoint</Application>
  <PresentationFormat>A4 용지(210x297mm)</PresentationFormat>
  <Paragraphs>88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KoPub돋움체 Bold</vt:lpstr>
      <vt:lpstr>KoPub돋움체 Medium</vt:lpstr>
      <vt:lpstr>맑은 고딕</vt:lpstr>
      <vt:lpstr>Arial</vt:lpstr>
      <vt:lpstr>Wingdings</vt:lpstr>
      <vt:lpstr>제안서 마스터</vt:lpstr>
      <vt:lpstr>PowerPoint 프레젠테이션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jhkim</dc:creator>
  <cp:lastModifiedBy>현호 김</cp:lastModifiedBy>
  <cp:revision>102</cp:revision>
  <dcterms:created xsi:type="dcterms:W3CDTF">2021-04-04T03:38:05Z</dcterms:created>
  <dcterms:modified xsi:type="dcterms:W3CDTF">2026-09-18T21:36:53Z</dcterms:modified>
</cp:coreProperties>
</file>